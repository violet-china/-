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2" r:id="rId2"/>
    <p:sldMasterId id="2147483706" r:id="rId3"/>
  </p:sldMasterIdLst>
  <p:notesMasterIdLst>
    <p:notesMasterId r:id="rId23"/>
  </p:notesMasterIdLst>
  <p:sldIdLst>
    <p:sldId id="400" r:id="rId4"/>
    <p:sldId id="353" r:id="rId5"/>
    <p:sldId id="300" r:id="rId6"/>
    <p:sldId id="380" r:id="rId7"/>
    <p:sldId id="382" r:id="rId8"/>
    <p:sldId id="386" r:id="rId9"/>
    <p:sldId id="389" r:id="rId10"/>
    <p:sldId id="403" r:id="rId11"/>
    <p:sldId id="395" r:id="rId12"/>
    <p:sldId id="404" r:id="rId13"/>
    <p:sldId id="388" r:id="rId14"/>
    <p:sldId id="390" r:id="rId15"/>
    <p:sldId id="405" r:id="rId16"/>
    <p:sldId id="406" r:id="rId17"/>
    <p:sldId id="394" r:id="rId18"/>
    <p:sldId id="399" r:id="rId19"/>
    <p:sldId id="407" r:id="rId20"/>
    <p:sldId id="408" r:id="rId21"/>
    <p:sldId id="297" r:id="rId22"/>
  </p:sldIdLst>
  <p:sldSz cx="12190413" cy="6859588"/>
  <p:notesSz cx="6858000" cy="9144000"/>
  <p:custDataLst>
    <p:tags r:id="rId24"/>
  </p:custDataLst>
  <p:defaultTextStyle>
    <a:defPPr>
      <a:defRPr lang="zh-CN"/>
    </a:defPPr>
    <a:lvl1pPr marL="0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A3C1"/>
    <a:srgbClr val="81B747"/>
    <a:srgbClr val="01ACBE"/>
    <a:srgbClr val="E25E0E"/>
    <a:srgbClr val="4FC34E"/>
    <a:srgbClr val="14B28B"/>
    <a:srgbClr val="27C5D6"/>
    <a:srgbClr val="1983B7"/>
    <a:srgbClr val="E94E60"/>
    <a:srgbClr val="01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86" autoAdjust="0"/>
    <p:restoredTop sz="94451" autoAdjust="0"/>
  </p:normalViewPr>
  <p:slideViewPr>
    <p:cSldViewPr snapToGrid="0" showGuides="1">
      <p:cViewPr varScale="1">
        <p:scale>
          <a:sx n="99" d="100"/>
          <a:sy n="99" d="100"/>
        </p:scale>
        <p:origin x="48" y="348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violet\Documents\xwechat_files\wxid_beq793h92dfq22_f717\msg\file\2025-12\&#21095;&#26412;&#26432;&#35789;&#39057;(&#24050;&#33258;&#21160;&#36824;&#21407;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0" i="0" u="none" strike="noStrike" baseline="0">
                <a:effectLst/>
              </a:rPr>
              <a:t>核心维度词频占比饼图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95-44EF-9C27-72A13EEB945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95-44EF-9C27-72A13EEB945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395-44EF-9C27-72A13EEB945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395-44EF-9C27-72A13EEB945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395-44EF-9C27-72A13EEB945E}"/>
              </c:ext>
            </c:extLst>
          </c:dPt>
          <c:dPt>
            <c:idx val="5"/>
            <c:bubble3D val="0"/>
            <c:spPr>
              <a:solidFill>
                <a:schemeClr val="accent6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395-44EF-9C27-72A13EEB945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新建文本文档!$E$4:$E$9</c:f>
              <c:strCache>
                <c:ptCount val="6"/>
                <c:pt idx="0">
                  <c:v>推理核心维度</c:v>
                </c:pt>
                <c:pt idx="1">
                  <c:v>情感核心维度</c:v>
                </c:pt>
                <c:pt idx="2">
                  <c:v>互动机制维度</c:v>
                </c:pt>
                <c:pt idx="3">
                  <c:v>场景沉浸维度</c:v>
                </c:pt>
                <c:pt idx="4">
                  <c:v>专业设定维度</c:v>
                </c:pt>
                <c:pt idx="5">
                  <c:v>其他词汇</c:v>
                </c:pt>
              </c:strCache>
            </c:strRef>
          </c:cat>
          <c:val>
            <c:numRef>
              <c:f>新建文本文档!$F$4:$F$9</c:f>
              <c:numCache>
                <c:formatCode>General</c:formatCode>
                <c:ptCount val="6"/>
                <c:pt idx="0">
                  <c:v>28.7</c:v>
                </c:pt>
                <c:pt idx="1">
                  <c:v>22.3</c:v>
                </c:pt>
                <c:pt idx="2">
                  <c:v>21.5</c:v>
                </c:pt>
                <c:pt idx="3">
                  <c:v>6.8</c:v>
                </c:pt>
                <c:pt idx="4">
                  <c:v>5.2</c:v>
                </c:pt>
                <c:pt idx="5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395-44EF-9C27-72A13EEB9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9012C8C0-A3D3-487B-AECC-CB6663EAE28D}" type="datetimeFigureOut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3849D3E0-124D-4DFF-AE99-4EA4CC201DB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177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1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1pPr>
    <a:lvl2pPr marL="457171" algn="l" defTabSz="914341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2pPr>
    <a:lvl3pPr marL="914341" algn="l" defTabSz="914341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3pPr>
    <a:lvl4pPr marL="1371512" algn="l" defTabSz="914341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4pPr>
    <a:lvl5pPr marL="1828683" algn="l" defTabSz="914341" rtl="0" eaLnBrk="1" latinLnBrk="0" hangingPunct="1">
      <a:defRPr sz="1200" kern="1200">
        <a:solidFill>
          <a:schemeClr val="tx1"/>
        </a:solidFill>
        <a:latin typeface="印品黑体" panose="00000500000000000000" pitchFamily="2" charset="-122"/>
        <a:ea typeface="印品黑体" panose="00000500000000000000" pitchFamily="2" charset="-122"/>
        <a:cs typeface="+mn-cs"/>
      </a:defRPr>
    </a:lvl5pPr>
    <a:lvl6pPr marL="228585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108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752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836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0306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354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925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479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371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371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371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551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168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168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168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77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507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507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印品黑体" panose="00000500000000000000" pitchFamily="2" charset="-122"/>
                <a:cs typeface="+mn-cs"/>
              </a:rPr>
              <a:pPr marL="0" marR="0" lvl="0" indent="0" algn="r" defTabSz="91434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印品黑体" panose="00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507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5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873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2" indent="0" algn="ctr">
              <a:buNone/>
              <a:defRPr sz="1500"/>
            </a:lvl4pPr>
            <a:lvl5pPr marL="1828683" indent="0" algn="ctr">
              <a:buNone/>
              <a:defRPr sz="1500"/>
            </a:lvl5pPr>
            <a:lvl6pPr marL="2285854" indent="0" algn="ctr">
              <a:buNone/>
              <a:defRPr sz="1500"/>
            </a:lvl6pPr>
            <a:lvl7pPr marL="2743024" indent="0" algn="ctr">
              <a:buNone/>
              <a:defRPr sz="1500"/>
            </a:lvl7pPr>
            <a:lvl8pPr marL="3200195" indent="0" algn="ctr">
              <a:buNone/>
              <a:defRPr sz="1500"/>
            </a:lvl8pPr>
            <a:lvl9pPr marL="3657366" indent="0" algn="ctr">
              <a:buNone/>
              <a:defRPr sz="15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91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67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744" y="1710135"/>
            <a:ext cx="10514231" cy="285339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744" y="4590527"/>
            <a:ext cx="10514231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4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1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2868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28585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74302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2001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65736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26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091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96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90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80" y="365211"/>
            <a:ext cx="10514231" cy="1325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679" y="1681553"/>
            <a:ext cx="5157117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1" indent="0">
              <a:buNone/>
              <a:defRPr sz="2000" b="1"/>
            </a:lvl2pPr>
            <a:lvl3pPr marL="914341" indent="0">
              <a:buNone/>
              <a:defRPr sz="1800" b="1"/>
            </a:lvl3pPr>
            <a:lvl4pPr marL="1371512" indent="0">
              <a:buNone/>
              <a:defRPr sz="1500" b="1"/>
            </a:lvl4pPr>
            <a:lvl5pPr marL="1828683" indent="0">
              <a:buNone/>
              <a:defRPr sz="1500" b="1"/>
            </a:lvl5pPr>
            <a:lvl6pPr marL="2285854" indent="0">
              <a:buNone/>
              <a:defRPr sz="1500" b="1"/>
            </a:lvl6pPr>
            <a:lvl7pPr marL="2743024" indent="0">
              <a:buNone/>
              <a:defRPr sz="1500" b="1"/>
            </a:lvl7pPr>
            <a:lvl8pPr marL="3200195" indent="0">
              <a:buNone/>
              <a:defRPr sz="1500" b="1"/>
            </a:lvl8pPr>
            <a:lvl9pPr marL="3657366" indent="0">
              <a:buNone/>
              <a:defRPr sz="15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679" y="2505656"/>
            <a:ext cx="5157117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1399" y="1681553"/>
            <a:ext cx="5182513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1" indent="0">
              <a:buNone/>
              <a:defRPr sz="2000" b="1"/>
            </a:lvl2pPr>
            <a:lvl3pPr marL="914341" indent="0">
              <a:buNone/>
              <a:defRPr sz="1800" b="1"/>
            </a:lvl3pPr>
            <a:lvl4pPr marL="1371512" indent="0">
              <a:buNone/>
              <a:defRPr sz="1500" b="1"/>
            </a:lvl4pPr>
            <a:lvl5pPr marL="1828683" indent="0">
              <a:buNone/>
              <a:defRPr sz="1500" b="1"/>
            </a:lvl5pPr>
            <a:lvl6pPr marL="2285854" indent="0">
              <a:buNone/>
              <a:defRPr sz="1500" b="1"/>
            </a:lvl6pPr>
            <a:lvl7pPr marL="2743024" indent="0">
              <a:buNone/>
              <a:defRPr sz="1500" b="1"/>
            </a:lvl7pPr>
            <a:lvl8pPr marL="3200195" indent="0">
              <a:buNone/>
              <a:defRPr sz="1500" b="1"/>
            </a:lvl8pPr>
            <a:lvl9pPr marL="3657366" indent="0">
              <a:buNone/>
              <a:defRPr sz="15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1399" y="2505656"/>
            <a:ext cx="5182513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19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75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5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8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2514" y="987655"/>
            <a:ext cx="6171397" cy="4874754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500"/>
            </a:lvl1pPr>
            <a:lvl2pPr marL="457171" indent="0">
              <a:buNone/>
              <a:defRPr sz="1400"/>
            </a:lvl2pPr>
            <a:lvl3pPr marL="914341" indent="0">
              <a:buNone/>
              <a:defRPr sz="1200"/>
            </a:lvl3pPr>
            <a:lvl4pPr marL="1371512" indent="0">
              <a:buNone/>
              <a:defRPr sz="1000"/>
            </a:lvl4pPr>
            <a:lvl5pPr marL="1828683" indent="0">
              <a:buNone/>
              <a:defRPr sz="1000"/>
            </a:lvl5pPr>
            <a:lvl6pPr marL="2285854" indent="0">
              <a:buNone/>
              <a:defRPr sz="1000"/>
            </a:lvl6pPr>
            <a:lvl7pPr marL="2743024" indent="0">
              <a:buNone/>
              <a:defRPr sz="1000"/>
            </a:lvl7pPr>
            <a:lvl8pPr marL="3200195" indent="0">
              <a:buNone/>
              <a:defRPr sz="1000"/>
            </a:lvl8pPr>
            <a:lvl9pPr marL="3657366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43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8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2514" y="987655"/>
            <a:ext cx="6171397" cy="4874754"/>
          </a:xfrm>
        </p:spPr>
        <p:txBody>
          <a:bodyPr/>
          <a:lstStyle>
            <a:lvl1pPr marL="0" indent="0">
              <a:buNone/>
              <a:defRPr sz="3200"/>
            </a:lvl1pPr>
            <a:lvl2pPr marL="457171" indent="0">
              <a:buNone/>
              <a:defRPr sz="2900"/>
            </a:lvl2pPr>
            <a:lvl3pPr marL="914341" indent="0">
              <a:buNone/>
              <a:defRPr sz="2400"/>
            </a:lvl3pPr>
            <a:lvl4pPr marL="1371512" indent="0">
              <a:buNone/>
              <a:defRPr sz="2000"/>
            </a:lvl4pPr>
            <a:lvl5pPr marL="1828683" indent="0">
              <a:buNone/>
              <a:defRPr sz="2000"/>
            </a:lvl5pPr>
            <a:lvl6pPr marL="2285854" indent="0">
              <a:buNone/>
              <a:defRPr sz="2000"/>
            </a:lvl6pPr>
            <a:lvl7pPr marL="2743024" indent="0">
              <a:buNone/>
              <a:defRPr sz="2000"/>
            </a:lvl7pPr>
            <a:lvl8pPr marL="3200195" indent="0">
              <a:buNone/>
              <a:defRPr sz="2000"/>
            </a:lvl8pPr>
            <a:lvl9pPr marL="3657366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500"/>
            </a:lvl1pPr>
            <a:lvl2pPr marL="457171" indent="0">
              <a:buNone/>
              <a:defRPr sz="1400"/>
            </a:lvl2pPr>
            <a:lvl3pPr marL="914341" indent="0">
              <a:buNone/>
              <a:defRPr sz="1200"/>
            </a:lvl3pPr>
            <a:lvl4pPr marL="1371512" indent="0">
              <a:buNone/>
              <a:defRPr sz="1000"/>
            </a:lvl4pPr>
            <a:lvl5pPr marL="1828683" indent="0">
              <a:buNone/>
              <a:defRPr sz="1000"/>
            </a:lvl5pPr>
            <a:lvl6pPr marL="2285854" indent="0">
              <a:buNone/>
              <a:defRPr sz="1000"/>
            </a:lvl6pPr>
            <a:lvl7pPr marL="2743024" indent="0">
              <a:buNone/>
              <a:defRPr sz="1000"/>
            </a:lvl7pPr>
            <a:lvl8pPr marL="3200195" indent="0">
              <a:buNone/>
              <a:defRPr sz="1000"/>
            </a:lvl8pPr>
            <a:lvl9pPr marL="3657366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50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77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3765" y="365209"/>
            <a:ext cx="2628558" cy="58131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093" y="365209"/>
            <a:ext cx="7733293" cy="581318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72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2" y="2130923"/>
            <a:ext cx="10361851" cy="1470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6E9206-D2D6-4057-92D4-39C87A03E66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626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52E9E1-D97D-4C90-BB96-FA1ED58B786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2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60" y="4407923"/>
            <a:ext cx="10361851" cy="1362390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60" y="2907388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54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9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63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18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72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27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8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3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4779EE-1E16-4CC5-A459-C716090F60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570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311C9F-D64E-4824-A709-CF61DE4E0BD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1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2" y="1535470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46" indent="0">
              <a:buNone/>
              <a:defRPr sz="2700" b="1"/>
            </a:lvl2pPr>
            <a:lvl3pPr marL="1219092" indent="0">
              <a:buNone/>
              <a:defRPr sz="2400" b="1"/>
            </a:lvl3pPr>
            <a:lvl4pPr marL="1828637" indent="0">
              <a:buNone/>
              <a:defRPr sz="2100" b="1"/>
            </a:lvl4pPr>
            <a:lvl5pPr marL="2438183" indent="0">
              <a:buNone/>
              <a:defRPr sz="2100" b="1"/>
            </a:lvl5pPr>
            <a:lvl6pPr marL="3047729" indent="0">
              <a:buNone/>
              <a:defRPr sz="2100" b="1"/>
            </a:lvl6pPr>
            <a:lvl7pPr marL="3657275" indent="0">
              <a:buNone/>
              <a:defRPr sz="2100" b="1"/>
            </a:lvl7pPr>
            <a:lvl8pPr marL="4266820" indent="0">
              <a:buNone/>
              <a:defRPr sz="2100" b="1"/>
            </a:lvl8pPr>
            <a:lvl9pPr marL="4876366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2" y="2175381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8" y="1535470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46" indent="0">
              <a:buNone/>
              <a:defRPr sz="2700" b="1"/>
            </a:lvl2pPr>
            <a:lvl3pPr marL="1219092" indent="0">
              <a:buNone/>
              <a:defRPr sz="2400" b="1"/>
            </a:lvl3pPr>
            <a:lvl4pPr marL="1828637" indent="0">
              <a:buNone/>
              <a:defRPr sz="2100" b="1"/>
            </a:lvl4pPr>
            <a:lvl5pPr marL="2438183" indent="0">
              <a:buNone/>
              <a:defRPr sz="2100" b="1"/>
            </a:lvl5pPr>
            <a:lvl6pPr marL="3047729" indent="0">
              <a:buNone/>
              <a:defRPr sz="2100" b="1"/>
            </a:lvl6pPr>
            <a:lvl7pPr marL="3657275" indent="0">
              <a:buNone/>
              <a:defRPr sz="2100" b="1"/>
            </a:lvl7pPr>
            <a:lvl8pPr marL="4266820" indent="0">
              <a:buNone/>
              <a:defRPr sz="2100" b="1"/>
            </a:lvl8pPr>
            <a:lvl9pPr marL="4876366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8" y="2175381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4318BD-B3C6-4D4B-B871-C29490A2E55A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414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CAFC4-799C-4CDE-B92B-8C262F06CF3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117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 userDrawn="1"/>
        </p:nvSpPr>
        <p:spPr>
          <a:xfrm>
            <a:off x="1139486" y="1031497"/>
            <a:ext cx="9911444" cy="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9" tIns="45710" rIns="91419" bIns="45710" rtlCol="0" anchor="ctr"/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印品黑体" panose="00000500000000000000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5899290" y="6453393"/>
            <a:ext cx="391838" cy="2201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9" tIns="45710" rIns="91419" bIns="45710" rtlCol="0" anchor="ctr"/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印品黑体" panose="00000500000000000000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729073-8FFE-4F18-B513-07581FC6638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4672992" y="6397708"/>
            <a:ext cx="2844430" cy="365210"/>
          </a:xfrm>
        </p:spPr>
        <p:txBody>
          <a:bodyPr/>
          <a:lstStyle>
            <a:lvl1pPr algn="ctr">
              <a:defRPr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8874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3215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5" y="273114"/>
            <a:ext cx="4010562" cy="116232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4300"/>
            </a:lvl1pPr>
            <a:lvl2pPr>
              <a:defRPr sz="38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5" y="1435438"/>
            <a:ext cx="4010562" cy="4692149"/>
          </a:xfrm>
        </p:spPr>
        <p:txBody>
          <a:bodyPr/>
          <a:lstStyle>
            <a:lvl1pPr marL="0" indent="0">
              <a:buNone/>
              <a:defRPr sz="1900"/>
            </a:lvl1pPr>
            <a:lvl2pPr marL="609546" indent="0">
              <a:buNone/>
              <a:defRPr sz="1500"/>
            </a:lvl2pPr>
            <a:lvl3pPr marL="1219092" indent="0">
              <a:buNone/>
              <a:defRPr sz="1400"/>
            </a:lvl3pPr>
            <a:lvl4pPr marL="1828637" indent="0">
              <a:buNone/>
              <a:defRPr sz="1200"/>
            </a:lvl4pPr>
            <a:lvl5pPr marL="2438183" indent="0">
              <a:buNone/>
              <a:defRPr sz="1200"/>
            </a:lvl5pPr>
            <a:lvl6pPr marL="3047729" indent="0">
              <a:buNone/>
              <a:defRPr sz="1200"/>
            </a:lvl6pPr>
            <a:lvl7pPr marL="3657275" indent="0">
              <a:buNone/>
              <a:defRPr sz="1200"/>
            </a:lvl7pPr>
            <a:lvl8pPr marL="4266820" indent="0">
              <a:buNone/>
              <a:defRPr sz="1200"/>
            </a:lvl8pPr>
            <a:lvl9pPr marL="4876366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C7FCF6-76BD-4495-B08F-4C059D2BA31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293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2919"/>
            <a:ext cx="7314248" cy="4115753"/>
          </a:xfrm>
        </p:spPr>
        <p:txBody>
          <a:bodyPr/>
          <a:lstStyle>
            <a:lvl1pPr marL="0" indent="0">
              <a:buNone/>
              <a:defRPr sz="4300"/>
            </a:lvl1pPr>
            <a:lvl2pPr marL="609546" indent="0">
              <a:buNone/>
              <a:defRPr sz="3800"/>
            </a:lvl2pPr>
            <a:lvl3pPr marL="1219092" indent="0">
              <a:buNone/>
              <a:defRPr sz="3200"/>
            </a:lvl3pPr>
            <a:lvl4pPr marL="1828637" indent="0">
              <a:buNone/>
              <a:defRPr sz="2700"/>
            </a:lvl4pPr>
            <a:lvl5pPr marL="2438183" indent="0">
              <a:buNone/>
              <a:defRPr sz="2700"/>
            </a:lvl5pPr>
            <a:lvl6pPr marL="3047729" indent="0">
              <a:buNone/>
              <a:defRPr sz="2700"/>
            </a:lvl6pPr>
            <a:lvl7pPr marL="3657275" indent="0">
              <a:buNone/>
              <a:defRPr sz="2700"/>
            </a:lvl7pPr>
            <a:lvl8pPr marL="4266820" indent="0">
              <a:buNone/>
              <a:defRPr sz="2700"/>
            </a:lvl8pPr>
            <a:lvl9pPr marL="4876366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68585"/>
            <a:ext cx="7314248" cy="805049"/>
          </a:xfrm>
        </p:spPr>
        <p:txBody>
          <a:bodyPr/>
          <a:lstStyle>
            <a:lvl1pPr marL="0" indent="0">
              <a:buNone/>
              <a:defRPr sz="1900"/>
            </a:lvl1pPr>
            <a:lvl2pPr marL="609546" indent="0">
              <a:buNone/>
              <a:defRPr sz="1500"/>
            </a:lvl2pPr>
            <a:lvl3pPr marL="1219092" indent="0">
              <a:buNone/>
              <a:defRPr sz="1400"/>
            </a:lvl3pPr>
            <a:lvl4pPr marL="1828637" indent="0">
              <a:buNone/>
              <a:defRPr sz="1200"/>
            </a:lvl4pPr>
            <a:lvl5pPr marL="2438183" indent="0">
              <a:buNone/>
              <a:defRPr sz="1200"/>
            </a:lvl5pPr>
            <a:lvl6pPr marL="3047729" indent="0">
              <a:buNone/>
              <a:defRPr sz="1200"/>
            </a:lvl6pPr>
            <a:lvl7pPr marL="3657275" indent="0">
              <a:buNone/>
              <a:defRPr sz="1200"/>
            </a:lvl7pPr>
            <a:lvl8pPr marL="4266820" indent="0">
              <a:buNone/>
              <a:defRPr sz="1200"/>
            </a:lvl8pPr>
            <a:lvl9pPr marL="4876366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57577C-F53D-4BB9-9408-EB84DEB3CD8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326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D58058-BD14-4845-947D-4A9B79A00D0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8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51" y="274704"/>
            <a:ext cx="2742843" cy="5852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2" y="274704"/>
            <a:ext cx="8025355" cy="5852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ECB469-C949-4E3F-B0CB-0C15DA7B7F92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6711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259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</p:spPr>
        <p:txBody>
          <a:bodyPr lIns="108830" tIns="54416" rIns="108830" bIns="5441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eaVert" lIns="108830" tIns="54416" rIns="108830" bIns="54416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lIns="108830" tIns="54416" rIns="108830" bIns="54416"/>
          <a:lstStyle/>
          <a:p>
            <a:pPr defTabSz="1088433"/>
            <a:fld id="{2E3AAC11-D570-4EA9-AFC0-30FB72BA45EB}" type="datetimeFigureOut">
              <a:rPr lang="zh-CN" altLang="en-US" sz="2100" smtClean="0">
                <a:solidFill>
                  <a:prstClr val="black"/>
                </a:solidFill>
              </a:rPr>
              <a:pPr defTabSz="1088433"/>
              <a:t>2025/12/16</a:t>
            </a:fld>
            <a:endParaRPr lang="zh-CN" altLang="en-US" sz="21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lIns="108830" tIns="54416" rIns="108830" bIns="54416"/>
          <a:lstStyle/>
          <a:p>
            <a:pPr defTabSz="1088433"/>
            <a:endParaRPr lang="zh-CN" altLang="en-US" sz="21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lIns="108830" tIns="54416" rIns="108830" bIns="54416"/>
          <a:lstStyle/>
          <a:p>
            <a:pPr defTabSz="1088433"/>
            <a:fld id="{55ECCFAA-F4FB-487C-9F1E-C8836D0C3DC9}" type="slidenum">
              <a:rPr lang="zh-CN" altLang="en-US" sz="2100" smtClean="0">
                <a:solidFill>
                  <a:prstClr val="black"/>
                </a:solidFill>
              </a:rPr>
              <a:pPr defTabSz="1088433"/>
              <a:t>‹#›</a:t>
            </a:fld>
            <a:endParaRPr lang="zh-CN" altLang="en-US" sz="21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672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  <a:prstGeom prst="rect">
            <a:avLst/>
          </a:prstGeom>
        </p:spPr>
        <p:txBody>
          <a:bodyPr vert="eaVert" lIns="108830" tIns="54416" rIns="108830" bIns="5441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2" y="274702"/>
            <a:ext cx="8025355" cy="5852880"/>
          </a:xfrm>
          <a:prstGeom prst="rect">
            <a:avLst/>
          </a:prstGeom>
        </p:spPr>
        <p:txBody>
          <a:bodyPr vert="eaVert" lIns="108830" tIns="54416" rIns="108830" bIns="54416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lIns="108830" tIns="54416" rIns="108830" bIns="54416"/>
          <a:lstStyle/>
          <a:p>
            <a:pPr defTabSz="1088433"/>
            <a:fld id="{2E3AAC11-D570-4EA9-AFC0-30FB72BA45EB}" type="datetimeFigureOut">
              <a:rPr lang="zh-CN" altLang="en-US" sz="2100" smtClean="0">
                <a:solidFill>
                  <a:prstClr val="black"/>
                </a:solidFill>
              </a:rPr>
              <a:pPr defTabSz="1088433"/>
              <a:t>2025/12/16</a:t>
            </a:fld>
            <a:endParaRPr lang="zh-CN" altLang="en-US" sz="21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lIns="108830" tIns="54416" rIns="108830" bIns="54416"/>
          <a:lstStyle/>
          <a:p>
            <a:pPr defTabSz="1088433"/>
            <a:endParaRPr lang="zh-CN" altLang="en-US" sz="21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lIns="108830" tIns="54416" rIns="108830" bIns="54416"/>
          <a:lstStyle/>
          <a:p>
            <a:pPr defTabSz="1088433"/>
            <a:fld id="{55ECCFAA-F4FB-487C-9F1E-C8836D0C3DC9}" type="slidenum">
              <a:rPr lang="zh-CN" altLang="en-US" sz="2100" smtClean="0">
                <a:solidFill>
                  <a:prstClr val="black"/>
                </a:solidFill>
              </a:rPr>
              <a:pPr defTabSz="1088433"/>
              <a:t>‹#›</a:t>
            </a:fld>
            <a:endParaRPr lang="zh-CN" altLang="en-US" sz="21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7918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33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092" y="365211"/>
            <a:ext cx="10514231" cy="1325870"/>
          </a:xfrm>
          <a:prstGeom prst="rect">
            <a:avLst/>
          </a:prstGeom>
        </p:spPr>
        <p:txBody>
          <a:bodyPr vert="horz" lIns="91419" tIns="45710" rIns="91419" bIns="4571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92" y="1826048"/>
            <a:ext cx="10514231" cy="4352346"/>
          </a:xfrm>
          <a:prstGeom prst="rect">
            <a:avLst/>
          </a:prstGeom>
        </p:spPr>
        <p:txBody>
          <a:bodyPr vert="horz" lIns="91419" tIns="45710" rIns="91419" bIns="4571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092" y="6357823"/>
            <a:ext cx="2742843" cy="365210"/>
          </a:xfrm>
          <a:prstGeom prst="rect">
            <a:avLst/>
          </a:prstGeom>
        </p:spPr>
        <p:txBody>
          <a:bodyPr vert="horz" lIns="91419" tIns="45710" rIns="91419" bIns="4571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4C4388EF-52D1-4258-9BE5-BCD010C7D4DE}" type="datetimeFigureOut">
              <a:rPr lang="zh-CN" altLang="en-US" smtClean="0"/>
              <a:pPr/>
              <a:t>2025/12/16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419" tIns="45710" rIns="91419" bIns="4571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480" y="6357823"/>
            <a:ext cx="2742843" cy="365210"/>
          </a:xfrm>
          <a:prstGeom prst="rect">
            <a:avLst/>
          </a:prstGeom>
        </p:spPr>
        <p:txBody>
          <a:bodyPr vert="horz" lIns="91419" tIns="45710" rIns="91419" bIns="4571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3D3EE65E-57D2-4566-898C-4F2076833F8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0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4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j-cs"/>
        </a:defRPr>
      </a:lvl1pPr>
    </p:titleStyle>
    <p:bodyStyle>
      <a:lvl1pPr marL="228585" indent="-228585" algn="l" defTabSz="91434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1pPr>
      <a:lvl2pPr marL="685756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2pPr>
      <a:lvl3pPr marL="1142927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3pPr>
      <a:lvl4pPr marL="1600098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4pPr>
      <a:lvl5pPr marL="2057268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5pPr>
      <a:lvl6pPr marL="2514439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0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1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1" indent="-228585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3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4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4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5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6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703"/>
            <a:ext cx="10971372" cy="1143265"/>
          </a:xfrm>
          <a:prstGeom prst="rect">
            <a:avLst/>
          </a:prstGeom>
        </p:spPr>
        <p:txBody>
          <a:bodyPr vert="horz" lIns="91419" tIns="45710" rIns="91419" bIns="4571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527011"/>
          </a:xfrm>
          <a:prstGeom prst="rect">
            <a:avLst/>
          </a:prstGeom>
        </p:spPr>
        <p:txBody>
          <a:bodyPr vert="horz" lIns="91419" tIns="45710" rIns="91419" bIns="4571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7825"/>
            <a:ext cx="2844430" cy="365210"/>
          </a:xfrm>
          <a:prstGeom prst="rect">
            <a:avLst/>
          </a:prstGeom>
        </p:spPr>
        <p:txBody>
          <a:bodyPr vert="horz" lIns="91419" tIns="45710" rIns="91419" bIns="4571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9196EC2F-0988-4314-AD4B-24FF16D7B4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12/16/2025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57825"/>
            <a:ext cx="3860297" cy="365210"/>
          </a:xfrm>
          <a:prstGeom prst="rect">
            <a:avLst/>
          </a:prstGeom>
        </p:spPr>
        <p:txBody>
          <a:bodyPr vert="horz" lIns="91419" tIns="45710" rIns="91419" bIns="4571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</p:spPr>
        <p:txBody>
          <a:bodyPr vert="horz" lIns="91419" tIns="45710" rIns="91419" bIns="4571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06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 ftr="0" dt="0"/>
  <p:txStyles>
    <p:titleStyle>
      <a:lvl1pPr algn="ctr" defTabSz="1219092" rtl="0" eaLnBrk="1" latinLnBrk="0" hangingPunct="1">
        <a:spcBef>
          <a:spcPct val="0"/>
        </a:spcBef>
        <a:buNone/>
        <a:defRPr sz="600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457160" indent="-457160" algn="l" defTabSz="1219092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990512" indent="-380966" algn="l" defTabSz="1219092" rtl="0" eaLnBrk="1" latinLnBrk="0" hangingPunct="1">
        <a:spcBef>
          <a:spcPct val="20000"/>
        </a:spcBef>
        <a:buFont typeface="Arial" pitchFamily="34" charset="0"/>
        <a:buChar char="–"/>
        <a:defRPr sz="38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523864" indent="-304772" algn="l" defTabSz="121909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2133410" indent="-304772" algn="l" defTabSz="1219092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742955" indent="-304772" algn="l" defTabSz="1219092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3352501" indent="-304772" algn="l" defTabSz="121909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48" indent="-304772" algn="l" defTabSz="121909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93" indent="-304772" algn="l" defTabSz="121909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139" indent="-304772" algn="l" defTabSz="121909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46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92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7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83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9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75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20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66" algn="l" defTabSz="121909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72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</p:sldLayoutIdLst>
  <p:txStyles>
    <p:titleStyle>
      <a:lvl1pPr algn="ctr" defTabSz="1088433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162" indent="-408162" algn="l" defTabSz="1088433" rtl="0" eaLnBrk="1" latinLnBrk="0" hangingPunct="1">
        <a:spcBef>
          <a:spcPct val="2000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352" indent="-340135" algn="l" defTabSz="1088433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540" indent="-272108" algn="l" defTabSz="10884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4757" indent="-272108" algn="l" defTabSz="1088433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8972" indent="-272108" algn="l" defTabSz="1088433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188" indent="-272108" algn="l" defTabSz="10884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405" indent="-272108" algn="l" defTabSz="10884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621" indent="-272108" algn="l" defTabSz="10884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836" indent="-272108" algn="l" defTabSz="10884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16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33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649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864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079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296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512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728" algn="l" defTabSz="108843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6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9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0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3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1"/>
            <a:ext cx="12190413" cy="6857107"/>
          </a:xfrm>
          <a:prstGeom prst="rect">
            <a:avLst/>
          </a:prstGeom>
        </p:spPr>
      </p:pic>
      <p:sp>
        <p:nvSpPr>
          <p:cNvPr id="7" name="_14"/>
          <p:cNvSpPr txBox="1">
            <a:spLocks noChangeArrowheads="1"/>
          </p:cNvSpPr>
          <p:nvPr/>
        </p:nvSpPr>
        <p:spPr bwMode="auto">
          <a:xfrm>
            <a:off x="4853867" y="661349"/>
            <a:ext cx="7336546" cy="3313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1" rIns="91423" bIns="45711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zh-CN" altLang="en-US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       基于新兴娱乐方式剧本杀文本剧情导向分析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091040">
            <a:off x="292220" y="1970873"/>
            <a:ext cx="6428806" cy="360309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78" y="1211916"/>
            <a:ext cx="3464834" cy="1371981"/>
          </a:xfrm>
          <a:prstGeom prst="rect">
            <a:avLst/>
          </a:prstGeom>
        </p:spPr>
      </p:pic>
      <p:sp>
        <p:nvSpPr>
          <p:cNvPr id="6" name="_16"/>
          <p:cNvSpPr txBox="1">
            <a:spLocks noChangeArrowheads="1"/>
          </p:cNvSpPr>
          <p:nvPr/>
        </p:nvSpPr>
        <p:spPr bwMode="auto">
          <a:xfrm>
            <a:off x="6177682" y="736060"/>
            <a:ext cx="5582130" cy="2323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1" rIns="91423" bIns="45711" numCol="1" anchor="ctr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algn="l"/>
            <a:endParaRPr lang="zh-CN" altLang="zh-CN" sz="8600" b="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6" name="_16"/>
          <p:cNvSpPr txBox="1">
            <a:spLocks noChangeArrowheads="1"/>
          </p:cNvSpPr>
          <p:nvPr/>
        </p:nvSpPr>
        <p:spPr bwMode="auto">
          <a:xfrm>
            <a:off x="4853867" y="4564309"/>
            <a:ext cx="4075484" cy="246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2" tIns="45711" rIns="91422" bIns="45711" numCol="1" anchor="ctr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algn="l"/>
            <a:r>
              <a:rPr lang="zh-CN" altLang="en-US" sz="1800" b="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小组成员：陈佳昊 陈强 陈晨</a:t>
            </a:r>
            <a:r>
              <a:rPr lang="en-US" altLang="zh-CN" sz="1800" b="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 </a:t>
            </a:r>
            <a:endParaRPr lang="zh-CN" altLang="zh-CN" sz="1800" b="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4EAD1A-2574-CDDD-E536-7274DF82D08B}"/>
              </a:ext>
            </a:extLst>
          </p:cNvPr>
          <p:cNvSpPr txBox="1"/>
          <p:nvPr/>
        </p:nvSpPr>
        <p:spPr>
          <a:xfrm>
            <a:off x="6053956" y="3642889"/>
            <a:ext cx="5705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——————</a:t>
            </a:r>
            <a:r>
              <a:rPr lang="zh-CN" altLang="en-US" sz="1400" dirty="0"/>
              <a:t>多元受众语境下的剧情导向、走向预测与体验生成机制分析</a:t>
            </a:r>
          </a:p>
        </p:txBody>
      </p:sp>
    </p:spTree>
    <p:extLst>
      <p:ext uri="{BB962C8B-B14F-4D97-AF65-F5344CB8AC3E}">
        <p14:creationId xmlns:p14="http://schemas.microsoft.com/office/powerpoint/2010/main" val="3795126013"/>
      </p:ext>
    </p:extLst>
  </p:cSld>
  <p:clrMapOvr>
    <a:masterClrMapping/>
  </p:clrMapOvr>
  <p:transition spd="slow" advClick="0" advTm="100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6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5876"/>
            <a:ext cx="12190413" cy="6857107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5961971" y="4659318"/>
            <a:ext cx="890531" cy="890531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Arial"/>
                <a:ea typeface="微软雅黑"/>
                <a:sym typeface="Arial"/>
              </a:rPr>
              <a:t>4</a:t>
            </a:r>
            <a:endParaRPr lang="zh-CN" altLang="en-US" sz="4400" dirty="0">
              <a:solidFill>
                <a:schemeClr val="accent1">
                  <a:lumMod val="7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961158" y="2432017"/>
            <a:ext cx="890531" cy="890531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Arial"/>
                <a:ea typeface="微软雅黑"/>
                <a:sym typeface="Arial"/>
              </a:rPr>
              <a:t>2</a:t>
            </a:r>
            <a:endParaRPr lang="zh-CN" altLang="en-US" sz="4400" dirty="0">
              <a:solidFill>
                <a:schemeClr val="accent1">
                  <a:lumMod val="7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961158" y="1339778"/>
            <a:ext cx="890531" cy="890531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1</a:t>
            </a:r>
            <a:endParaRPr lang="zh-CN" altLang="en-US" sz="440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961971" y="3567079"/>
            <a:ext cx="890531" cy="890531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3</a:t>
            </a:r>
            <a:endParaRPr lang="zh-CN" altLang="en-US" sz="440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028858" y="1553332"/>
            <a:ext cx="2713464" cy="463420"/>
            <a:chOff x="3382715" y="1432965"/>
            <a:chExt cx="2713464" cy="463420"/>
          </a:xfrm>
          <a:noFill/>
        </p:grpSpPr>
        <p:sp>
          <p:nvSpPr>
            <p:cNvPr id="8" name="燕尾形 7"/>
            <p:cNvSpPr/>
            <p:nvPr/>
          </p:nvSpPr>
          <p:spPr>
            <a:xfrm>
              <a:off x="3382715" y="1432965"/>
              <a:ext cx="2713464" cy="463420"/>
            </a:xfrm>
            <a:prstGeom prst="chevron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756118" y="1441265"/>
              <a:ext cx="2069797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研究背景和问题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028857" y="2645571"/>
            <a:ext cx="2713464" cy="463420"/>
            <a:chOff x="4463688" y="2325220"/>
            <a:chExt cx="2713464" cy="463420"/>
          </a:xfrm>
          <a:noFill/>
        </p:grpSpPr>
        <p:sp>
          <p:nvSpPr>
            <p:cNvPr id="11" name="燕尾形 10"/>
            <p:cNvSpPr/>
            <p:nvPr/>
          </p:nvSpPr>
          <p:spPr>
            <a:xfrm>
              <a:off x="4463688" y="2325220"/>
              <a:ext cx="2713464" cy="463420"/>
            </a:xfrm>
            <a:prstGeom prst="chevron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831599" y="2346648"/>
              <a:ext cx="2149948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数据来源和分析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029672" y="3780634"/>
            <a:ext cx="2713464" cy="463420"/>
            <a:chOff x="5477851" y="3221290"/>
            <a:chExt cx="2713464" cy="463420"/>
          </a:xfrm>
          <a:noFill/>
        </p:grpSpPr>
        <p:sp>
          <p:nvSpPr>
            <p:cNvPr id="14" name="燕尾形 13"/>
            <p:cNvSpPr/>
            <p:nvPr/>
          </p:nvSpPr>
          <p:spPr>
            <a:xfrm>
              <a:off x="5477851" y="3221290"/>
              <a:ext cx="2713464" cy="463420"/>
            </a:xfrm>
            <a:prstGeom prst="chevron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5851378" y="3240464"/>
              <a:ext cx="184731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029671" y="4872873"/>
            <a:ext cx="2713464" cy="463420"/>
            <a:chOff x="4469387" y="4122389"/>
            <a:chExt cx="2713464" cy="463420"/>
          </a:xfrm>
          <a:noFill/>
        </p:grpSpPr>
        <p:sp>
          <p:nvSpPr>
            <p:cNvPr id="17" name="燕尾形 16"/>
            <p:cNvSpPr/>
            <p:nvPr/>
          </p:nvSpPr>
          <p:spPr>
            <a:xfrm>
              <a:off x="4469387" y="4122389"/>
              <a:ext cx="2713464" cy="463420"/>
            </a:xfrm>
            <a:prstGeom prst="chevron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868523" y="4129817"/>
              <a:ext cx="1531188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对策与总结</a:t>
              </a: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93216">
            <a:off x="1089980" y="2115943"/>
            <a:ext cx="2834832" cy="1588812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3079143" y="2996604"/>
            <a:ext cx="1973748" cy="1325157"/>
            <a:chOff x="1794723" y="2515487"/>
            <a:chExt cx="2842553" cy="1908465"/>
          </a:xfrm>
        </p:grpSpPr>
        <p:sp>
          <p:nvSpPr>
            <p:cNvPr id="24" name="文本框 1"/>
            <p:cNvSpPr txBox="1"/>
            <p:nvPr/>
          </p:nvSpPr>
          <p:spPr>
            <a:xfrm>
              <a:off x="2028493" y="3759071"/>
              <a:ext cx="2408346" cy="664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77A3C1"/>
                  </a:solidFill>
                  <a:latin typeface="Arial"/>
                  <a:ea typeface="微软雅黑"/>
                  <a:sym typeface="Arial"/>
                </a:rPr>
                <a:t>CONTENT</a:t>
              </a:r>
              <a:endParaRPr lang="zh-CN" altLang="en-US" sz="2400" dirty="0">
                <a:solidFill>
                  <a:srgbClr val="77A3C1"/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25" name="文本框 5"/>
            <p:cNvSpPr txBox="1"/>
            <p:nvPr/>
          </p:nvSpPr>
          <p:spPr>
            <a:xfrm>
              <a:off x="1794723" y="2515487"/>
              <a:ext cx="2842553" cy="1462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rgbClr val="77A3C1"/>
                  </a:solidFill>
                  <a:latin typeface="Arial"/>
                  <a:ea typeface="微软雅黑"/>
                  <a:sym typeface="Arial"/>
                </a:rPr>
                <a:t>目录</a:t>
              </a:r>
            </a:p>
          </p:txBody>
        </p:sp>
      </p:grpSp>
      <p:sp>
        <p:nvSpPr>
          <p:cNvPr id="29" name="TextBox 3">
            <a:extLst>
              <a:ext uri="{FF2B5EF4-FFF2-40B4-BE49-F238E27FC236}">
                <a16:creationId xmlns:a16="http://schemas.microsoft.com/office/drawing/2014/main" id="{0E1C5434-DA25-B420-5682-E39DEFD708B8}"/>
              </a:ext>
            </a:extLst>
          </p:cNvPr>
          <p:cNvSpPr txBox="1"/>
          <p:nvPr/>
        </p:nvSpPr>
        <p:spPr>
          <a:xfrm>
            <a:off x="0" y="1240"/>
            <a:ext cx="540060" cy="123092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Arial"/>
                <a:ea typeface="微软雅黑"/>
                <a:sym typeface="Arial"/>
              </a:rPr>
              <a:t>PPT</a:t>
            </a:r>
            <a:r>
              <a:rPr lang="zh-CN" altLang="en-US" sz="100" dirty="0">
                <a:noFill/>
                <a:latin typeface="Arial"/>
                <a:ea typeface="微软雅黑"/>
                <a:sym typeface="Arial"/>
              </a:rPr>
              <a:t>模板 </a:t>
            </a:r>
            <a:r>
              <a:rPr lang="en-US" altLang="zh-CN" sz="100" dirty="0">
                <a:noFill/>
                <a:latin typeface="Arial"/>
                <a:ea typeface="微软雅黑"/>
                <a:sym typeface="Arial"/>
              </a:rPr>
              <a:t>http://www.1ppt.com/moban/</a:t>
            </a:r>
            <a:r>
              <a:rPr lang="zh-CN" altLang="en-US" sz="100" dirty="0">
                <a:noFill/>
                <a:latin typeface="Arial"/>
                <a:ea typeface="微软雅黑"/>
                <a:sym typeface="Arial"/>
              </a:rPr>
              <a:t> </a:t>
            </a:r>
            <a:endParaRPr lang="en-US" altLang="zh-CN" sz="100" dirty="0">
              <a:noFill/>
              <a:latin typeface="Arial"/>
              <a:ea typeface="微软雅黑"/>
              <a:sym typeface="Arial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BA2DFBB-3A2A-CC6F-A444-BF869BF2CA82}"/>
              </a:ext>
            </a:extLst>
          </p:cNvPr>
          <p:cNvSpPr txBox="1"/>
          <p:nvPr/>
        </p:nvSpPr>
        <p:spPr>
          <a:xfrm>
            <a:off x="7239185" y="3814182"/>
            <a:ext cx="25031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</a:rPr>
              <a:t>数据可视化和结论</a:t>
            </a:r>
          </a:p>
        </p:txBody>
      </p:sp>
    </p:spTree>
    <p:extLst>
      <p:ext uri="{BB962C8B-B14F-4D97-AF65-F5344CB8AC3E}">
        <p14:creationId xmlns:p14="http://schemas.microsoft.com/office/powerpoint/2010/main" val="75163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1"/>
            <a:ext cx="12190413" cy="6857107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237515" y="2870630"/>
            <a:ext cx="1486430" cy="1486426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1</a:t>
            </a:r>
            <a:endParaRPr lang="zh-CN" altLang="en-US" sz="600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23719" y="3149528"/>
            <a:ext cx="5214323" cy="890530"/>
            <a:chOff x="3382715" y="1432965"/>
            <a:chExt cx="2713464" cy="463420"/>
          </a:xfrm>
          <a:noFill/>
        </p:grpSpPr>
        <p:sp>
          <p:nvSpPr>
            <p:cNvPr id="8" name="燕尾形 7"/>
            <p:cNvSpPr/>
            <p:nvPr/>
          </p:nvSpPr>
          <p:spPr>
            <a:xfrm>
              <a:off x="3382715" y="1432965"/>
              <a:ext cx="2713464" cy="463420"/>
            </a:xfrm>
            <a:prstGeom prst="chevron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65166" y="1480917"/>
              <a:ext cx="1777807" cy="33634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研究背景与问题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93216">
            <a:off x="1087013" y="2152423"/>
            <a:ext cx="2834832" cy="158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20270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44382"/>
            <a:ext cx="12190413" cy="870862"/>
            <a:chOff x="0" y="244382"/>
            <a:chExt cx="12190413" cy="87086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17924"/>
              <a:ext cx="12190413" cy="597320"/>
              <a:chOff x="-2648979" y="271186"/>
              <a:chExt cx="12190413" cy="597320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19108" y="271186"/>
                <a:ext cx="3435255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Arial"/>
                  </a:rPr>
                  <a:t>研究背景与问题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493632" y="24438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553005" y="250332"/>
              <a:ext cx="1110280" cy="622268"/>
            </a:xfrm>
            <a:prstGeom prst="rect">
              <a:avLst/>
            </a:prstGeom>
          </p:spPr>
        </p:pic>
      </p:grpSp>
      <p:sp>
        <p:nvSpPr>
          <p:cNvPr id="10" name="Freeform 6"/>
          <p:cNvSpPr>
            <a:spLocks/>
          </p:cNvSpPr>
          <p:nvPr/>
        </p:nvSpPr>
        <p:spPr bwMode="auto">
          <a:xfrm>
            <a:off x="1276453" y="2369921"/>
            <a:ext cx="10115551" cy="685800"/>
          </a:xfrm>
          <a:custGeom>
            <a:avLst/>
            <a:gdLst>
              <a:gd name="T0" fmla="*/ 75 w 12630"/>
              <a:gd name="T1" fmla="*/ 0 h 856"/>
              <a:gd name="T2" fmla="*/ 12555 w 12630"/>
              <a:gd name="T3" fmla="*/ 0 h 856"/>
              <a:gd name="T4" fmla="*/ 12630 w 12630"/>
              <a:gd name="T5" fmla="*/ 94 h 856"/>
              <a:gd name="T6" fmla="*/ 12630 w 12630"/>
              <a:gd name="T7" fmla="*/ 763 h 856"/>
              <a:gd name="T8" fmla="*/ 12555 w 12630"/>
              <a:gd name="T9" fmla="*/ 856 h 856"/>
              <a:gd name="T10" fmla="*/ 75 w 12630"/>
              <a:gd name="T11" fmla="*/ 856 h 856"/>
              <a:gd name="T12" fmla="*/ 0 w 12630"/>
              <a:gd name="T13" fmla="*/ 763 h 856"/>
              <a:gd name="T14" fmla="*/ 0 w 12630"/>
              <a:gd name="T15" fmla="*/ 94 h 856"/>
              <a:gd name="T16" fmla="*/ 75 w 12630"/>
              <a:gd name="T17" fmla="*/ 0 h 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30" h="856">
                <a:moveTo>
                  <a:pt x="75" y="0"/>
                </a:moveTo>
                <a:lnTo>
                  <a:pt x="12555" y="0"/>
                </a:lnTo>
                <a:cubicBezTo>
                  <a:pt x="12597" y="0"/>
                  <a:pt x="12630" y="43"/>
                  <a:pt x="12630" y="94"/>
                </a:cubicBezTo>
                <a:lnTo>
                  <a:pt x="12630" y="763"/>
                </a:lnTo>
                <a:cubicBezTo>
                  <a:pt x="12630" y="814"/>
                  <a:pt x="12597" y="856"/>
                  <a:pt x="12555" y="856"/>
                </a:cubicBezTo>
                <a:lnTo>
                  <a:pt x="75" y="856"/>
                </a:lnTo>
                <a:cubicBezTo>
                  <a:pt x="34" y="856"/>
                  <a:pt x="0" y="814"/>
                  <a:pt x="0" y="763"/>
                </a:cubicBezTo>
                <a:lnTo>
                  <a:pt x="0" y="94"/>
                </a:lnTo>
                <a:cubicBezTo>
                  <a:pt x="0" y="43"/>
                  <a:pt x="34" y="0"/>
                  <a:pt x="75" y="0"/>
                </a:cubicBezTo>
                <a:close/>
              </a:path>
            </a:pathLst>
          </a:custGeom>
          <a:solidFill>
            <a:srgbClr val="484849">
              <a:lumMod val="20000"/>
              <a:lumOff val="80000"/>
            </a:srgbClr>
          </a:solidFill>
          <a:ln w="10" cap="flat">
            <a:solidFill>
              <a:srgbClr val="484849">
                <a:lumMod val="40000"/>
                <a:lumOff val="60000"/>
              </a:srgbClr>
            </a:solidFill>
            <a:prstDash val="solid"/>
            <a:miter lim="800000"/>
            <a:headEnd/>
            <a:tailEnd/>
          </a:ln>
        </p:spPr>
        <p:txBody>
          <a:bodyPr vert="horz" wrap="square" lIns="91423" tIns="45711" rIns="91423" bIns="4571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1276453" y="3678022"/>
            <a:ext cx="10115551" cy="685800"/>
          </a:xfrm>
          <a:custGeom>
            <a:avLst/>
            <a:gdLst>
              <a:gd name="T0" fmla="*/ 75 w 12630"/>
              <a:gd name="T1" fmla="*/ 0 h 856"/>
              <a:gd name="T2" fmla="*/ 12555 w 12630"/>
              <a:gd name="T3" fmla="*/ 0 h 856"/>
              <a:gd name="T4" fmla="*/ 12630 w 12630"/>
              <a:gd name="T5" fmla="*/ 94 h 856"/>
              <a:gd name="T6" fmla="*/ 12630 w 12630"/>
              <a:gd name="T7" fmla="*/ 763 h 856"/>
              <a:gd name="T8" fmla="*/ 12555 w 12630"/>
              <a:gd name="T9" fmla="*/ 856 h 856"/>
              <a:gd name="T10" fmla="*/ 75 w 12630"/>
              <a:gd name="T11" fmla="*/ 856 h 856"/>
              <a:gd name="T12" fmla="*/ 0 w 12630"/>
              <a:gd name="T13" fmla="*/ 763 h 856"/>
              <a:gd name="T14" fmla="*/ 0 w 12630"/>
              <a:gd name="T15" fmla="*/ 94 h 856"/>
              <a:gd name="T16" fmla="*/ 75 w 12630"/>
              <a:gd name="T17" fmla="*/ 0 h 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30" h="856">
                <a:moveTo>
                  <a:pt x="75" y="0"/>
                </a:moveTo>
                <a:lnTo>
                  <a:pt x="12555" y="0"/>
                </a:lnTo>
                <a:cubicBezTo>
                  <a:pt x="12597" y="0"/>
                  <a:pt x="12630" y="42"/>
                  <a:pt x="12630" y="94"/>
                </a:cubicBezTo>
                <a:lnTo>
                  <a:pt x="12630" y="763"/>
                </a:lnTo>
                <a:cubicBezTo>
                  <a:pt x="12630" y="814"/>
                  <a:pt x="12597" y="856"/>
                  <a:pt x="12555" y="856"/>
                </a:cubicBezTo>
                <a:lnTo>
                  <a:pt x="75" y="856"/>
                </a:lnTo>
                <a:cubicBezTo>
                  <a:pt x="34" y="856"/>
                  <a:pt x="0" y="814"/>
                  <a:pt x="0" y="763"/>
                </a:cubicBezTo>
                <a:lnTo>
                  <a:pt x="0" y="94"/>
                </a:lnTo>
                <a:cubicBezTo>
                  <a:pt x="0" y="42"/>
                  <a:pt x="34" y="0"/>
                  <a:pt x="75" y="0"/>
                </a:cubicBezTo>
                <a:close/>
              </a:path>
            </a:pathLst>
          </a:custGeom>
          <a:solidFill>
            <a:srgbClr val="484849">
              <a:lumMod val="20000"/>
              <a:lumOff val="80000"/>
            </a:srgbClr>
          </a:solidFill>
          <a:ln w="10" cap="flat">
            <a:solidFill>
              <a:srgbClr val="484849">
                <a:lumMod val="40000"/>
                <a:lumOff val="60000"/>
              </a:srgbClr>
            </a:solidFill>
            <a:prstDash val="solid"/>
            <a:miter lim="800000"/>
            <a:headEnd/>
            <a:tailEnd/>
          </a:ln>
        </p:spPr>
        <p:txBody>
          <a:bodyPr vert="horz" wrap="square" lIns="91423" tIns="45711" rIns="91423" bIns="4571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1276453" y="4930560"/>
            <a:ext cx="10115551" cy="685800"/>
          </a:xfrm>
          <a:custGeom>
            <a:avLst/>
            <a:gdLst>
              <a:gd name="T0" fmla="*/ 75 w 12630"/>
              <a:gd name="T1" fmla="*/ 0 h 856"/>
              <a:gd name="T2" fmla="*/ 12555 w 12630"/>
              <a:gd name="T3" fmla="*/ 0 h 856"/>
              <a:gd name="T4" fmla="*/ 12630 w 12630"/>
              <a:gd name="T5" fmla="*/ 93 h 856"/>
              <a:gd name="T6" fmla="*/ 12630 w 12630"/>
              <a:gd name="T7" fmla="*/ 762 h 856"/>
              <a:gd name="T8" fmla="*/ 12555 w 12630"/>
              <a:gd name="T9" fmla="*/ 856 h 856"/>
              <a:gd name="T10" fmla="*/ 75 w 12630"/>
              <a:gd name="T11" fmla="*/ 856 h 856"/>
              <a:gd name="T12" fmla="*/ 0 w 12630"/>
              <a:gd name="T13" fmla="*/ 762 h 856"/>
              <a:gd name="T14" fmla="*/ 0 w 12630"/>
              <a:gd name="T15" fmla="*/ 93 h 856"/>
              <a:gd name="T16" fmla="*/ 75 w 12630"/>
              <a:gd name="T17" fmla="*/ 0 h 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30" h="856">
                <a:moveTo>
                  <a:pt x="75" y="0"/>
                </a:moveTo>
                <a:lnTo>
                  <a:pt x="12555" y="0"/>
                </a:lnTo>
                <a:cubicBezTo>
                  <a:pt x="12597" y="0"/>
                  <a:pt x="12630" y="42"/>
                  <a:pt x="12630" y="93"/>
                </a:cubicBezTo>
                <a:lnTo>
                  <a:pt x="12630" y="762"/>
                </a:lnTo>
                <a:cubicBezTo>
                  <a:pt x="12630" y="814"/>
                  <a:pt x="12597" y="856"/>
                  <a:pt x="12555" y="856"/>
                </a:cubicBezTo>
                <a:lnTo>
                  <a:pt x="75" y="856"/>
                </a:lnTo>
                <a:cubicBezTo>
                  <a:pt x="34" y="856"/>
                  <a:pt x="0" y="814"/>
                  <a:pt x="0" y="762"/>
                </a:cubicBezTo>
                <a:lnTo>
                  <a:pt x="0" y="93"/>
                </a:lnTo>
                <a:cubicBezTo>
                  <a:pt x="0" y="42"/>
                  <a:pt x="34" y="0"/>
                  <a:pt x="75" y="0"/>
                </a:cubicBezTo>
                <a:close/>
              </a:path>
            </a:pathLst>
          </a:custGeom>
          <a:solidFill>
            <a:srgbClr val="484849">
              <a:lumMod val="20000"/>
              <a:lumOff val="80000"/>
            </a:srgbClr>
          </a:solidFill>
          <a:ln w="10" cap="flat">
            <a:solidFill>
              <a:srgbClr val="484849">
                <a:lumMod val="40000"/>
                <a:lumOff val="60000"/>
              </a:srgbClr>
            </a:solidFill>
            <a:prstDash val="solid"/>
            <a:miter lim="800000"/>
            <a:headEnd/>
            <a:tailEnd/>
          </a:ln>
        </p:spPr>
        <p:txBody>
          <a:bodyPr vert="horz" wrap="square" lIns="91423" tIns="45711" rIns="91423" bIns="4571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3" name="Freeform 10"/>
          <p:cNvSpPr>
            <a:spLocks noEditPoints="1"/>
          </p:cNvSpPr>
          <p:nvPr/>
        </p:nvSpPr>
        <p:spPr bwMode="auto">
          <a:xfrm>
            <a:off x="1987652" y="2014322"/>
            <a:ext cx="1868487" cy="1455738"/>
          </a:xfrm>
          <a:custGeom>
            <a:avLst/>
            <a:gdLst>
              <a:gd name="T0" fmla="*/ 2333 w 2333"/>
              <a:gd name="T1" fmla="*/ 0 h 1818"/>
              <a:gd name="T2" fmla="*/ 2333 w 2333"/>
              <a:gd name="T3" fmla="*/ 1364 h 1818"/>
              <a:gd name="T4" fmla="*/ 1166 w 2333"/>
              <a:gd name="T5" fmla="*/ 1818 h 1818"/>
              <a:gd name="T6" fmla="*/ 0 w 2333"/>
              <a:gd name="T7" fmla="*/ 1364 h 1818"/>
              <a:gd name="T8" fmla="*/ 0 w 2333"/>
              <a:gd name="T9" fmla="*/ 0 h 1818"/>
              <a:gd name="T10" fmla="*/ 2333 w 2333"/>
              <a:gd name="T11" fmla="*/ 0 h 1818"/>
              <a:gd name="T12" fmla="*/ 1166 w 2333"/>
              <a:gd name="T13" fmla="*/ 0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3" h="1818">
                <a:moveTo>
                  <a:pt x="2333" y="0"/>
                </a:moveTo>
                <a:lnTo>
                  <a:pt x="2333" y="1364"/>
                </a:lnTo>
                <a:lnTo>
                  <a:pt x="1166" y="1818"/>
                </a:lnTo>
                <a:lnTo>
                  <a:pt x="0" y="1364"/>
                </a:lnTo>
                <a:lnTo>
                  <a:pt x="0" y="0"/>
                </a:lnTo>
                <a:lnTo>
                  <a:pt x="2333" y="0"/>
                </a:lnTo>
                <a:close/>
                <a:moveTo>
                  <a:pt x="1166" y="0"/>
                </a:moveTo>
              </a:path>
            </a:pathLst>
          </a:custGeom>
          <a:solidFill>
            <a:srgbClr val="77A3C1"/>
          </a:solidFill>
          <a:ln>
            <a:noFill/>
          </a:ln>
        </p:spPr>
        <p:txBody>
          <a:bodyPr vert="horz" wrap="square" lIns="91423" tIns="45711" rIns="91423" bIns="4571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4" name="Freeform 11"/>
          <p:cNvSpPr>
            <a:spLocks noEditPoints="1"/>
          </p:cNvSpPr>
          <p:nvPr/>
        </p:nvSpPr>
        <p:spPr bwMode="auto">
          <a:xfrm>
            <a:off x="1987652" y="3311310"/>
            <a:ext cx="1868487" cy="1420813"/>
          </a:xfrm>
          <a:custGeom>
            <a:avLst/>
            <a:gdLst>
              <a:gd name="T0" fmla="*/ 2333 w 2333"/>
              <a:gd name="T1" fmla="*/ 0 h 1775"/>
              <a:gd name="T2" fmla="*/ 2333 w 2333"/>
              <a:gd name="T3" fmla="*/ 1331 h 1775"/>
              <a:gd name="T4" fmla="*/ 1166 w 2333"/>
              <a:gd name="T5" fmla="*/ 1775 h 1775"/>
              <a:gd name="T6" fmla="*/ 0 w 2333"/>
              <a:gd name="T7" fmla="*/ 1331 h 1775"/>
              <a:gd name="T8" fmla="*/ 0 w 2333"/>
              <a:gd name="T9" fmla="*/ 0 h 1775"/>
              <a:gd name="T10" fmla="*/ 1166 w 2333"/>
              <a:gd name="T11" fmla="*/ 444 h 1775"/>
              <a:gd name="T12" fmla="*/ 2333 w 2333"/>
              <a:gd name="T13" fmla="*/ 0 h 1775"/>
              <a:gd name="T14" fmla="*/ 1750 w 2333"/>
              <a:gd name="T15" fmla="*/ 222 h 1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333" h="1775">
                <a:moveTo>
                  <a:pt x="2333" y="0"/>
                </a:moveTo>
                <a:lnTo>
                  <a:pt x="2333" y="1331"/>
                </a:lnTo>
                <a:lnTo>
                  <a:pt x="1166" y="1775"/>
                </a:lnTo>
                <a:lnTo>
                  <a:pt x="0" y="1331"/>
                </a:lnTo>
                <a:lnTo>
                  <a:pt x="0" y="0"/>
                </a:lnTo>
                <a:lnTo>
                  <a:pt x="1166" y="444"/>
                </a:lnTo>
                <a:lnTo>
                  <a:pt x="2333" y="0"/>
                </a:lnTo>
                <a:close/>
                <a:moveTo>
                  <a:pt x="1750" y="222"/>
                </a:move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23" tIns="45711" rIns="91423" bIns="4571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5" name="Freeform 12"/>
          <p:cNvSpPr>
            <a:spLocks noEditPoints="1"/>
          </p:cNvSpPr>
          <p:nvPr/>
        </p:nvSpPr>
        <p:spPr bwMode="auto">
          <a:xfrm>
            <a:off x="1987652" y="4552735"/>
            <a:ext cx="1868487" cy="1420813"/>
          </a:xfrm>
          <a:custGeom>
            <a:avLst/>
            <a:gdLst>
              <a:gd name="T0" fmla="*/ 2333 w 2333"/>
              <a:gd name="T1" fmla="*/ 0 h 1775"/>
              <a:gd name="T2" fmla="*/ 2333 w 2333"/>
              <a:gd name="T3" fmla="*/ 1331 h 1775"/>
              <a:gd name="T4" fmla="*/ 1166 w 2333"/>
              <a:gd name="T5" fmla="*/ 1775 h 1775"/>
              <a:gd name="T6" fmla="*/ 0 w 2333"/>
              <a:gd name="T7" fmla="*/ 1331 h 1775"/>
              <a:gd name="T8" fmla="*/ 0 w 2333"/>
              <a:gd name="T9" fmla="*/ 0 h 1775"/>
              <a:gd name="T10" fmla="*/ 1166 w 2333"/>
              <a:gd name="T11" fmla="*/ 444 h 1775"/>
              <a:gd name="T12" fmla="*/ 2333 w 2333"/>
              <a:gd name="T13" fmla="*/ 0 h 1775"/>
              <a:gd name="T14" fmla="*/ 1750 w 2333"/>
              <a:gd name="T15" fmla="*/ 222 h 1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333" h="1775">
                <a:moveTo>
                  <a:pt x="2333" y="0"/>
                </a:moveTo>
                <a:lnTo>
                  <a:pt x="2333" y="1331"/>
                </a:lnTo>
                <a:lnTo>
                  <a:pt x="1166" y="1775"/>
                </a:lnTo>
                <a:lnTo>
                  <a:pt x="0" y="1331"/>
                </a:lnTo>
                <a:lnTo>
                  <a:pt x="0" y="0"/>
                </a:lnTo>
                <a:lnTo>
                  <a:pt x="1166" y="444"/>
                </a:lnTo>
                <a:lnTo>
                  <a:pt x="2333" y="0"/>
                </a:lnTo>
                <a:close/>
                <a:moveTo>
                  <a:pt x="1750" y="222"/>
                </a:moveTo>
              </a:path>
            </a:pathLst>
          </a:custGeom>
          <a:solidFill>
            <a:srgbClr val="77A3C1"/>
          </a:solidFill>
          <a:ln>
            <a:noFill/>
          </a:ln>
        </p:spPr>
        <p:txBody>
          <a:bodyPr vert="horz" wrap="square" lIns="91423" tIns="45711" rIns="91423" bIns="4571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6" name="TextBox 28"/>
          <p:cNvSpPr txBox="1"/>
          <p:nvPr/>
        </p:nvSpPr>
        <p:spPr>
          <a:xfrm>
            <a:off x="4280697" y="2389664"/>
            <a:ext cx="6912768" cy="646313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lvl="0"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市场规模突破百亿，但产品同质化严重，玩家体验呈现“方差大、满意度两极分化”特征。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2139161" y="2497378"/>
            <a:ext cx="1565472" cy="415480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100" kern="0" dirty="0">
                <a:solidFill>
                  <a:srgbClr val="FFFFFF"/>
                </a:solidFill>
                <a:latin typeface="Arial"/>
                <a:ea typeface="微软雅黑"/>
                <a:sym typeface="Arial"/>
              </a:rPr>
              <a:t>市场现状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2139161" y="3848507"/>
            <a:ext cx="1565472" cy="415480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100" kern="0" dirty="0">
                <a:solidFill>
                  <a:srgbClr val="FFFFFF"/>
                </a:solidFill>
                <a:latin typeface="Arial"/>
                <a:ea typeface="微软雅黑"/>
                <a:sym typeface="Arial"/>
              </a:rPr>
              <a:t>核心痛点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19" name="TextBox 31"/>
          <p:cNvSpPr txBox="1"/>
          <p:nvPr/>
        </p:nvSpPr>
        <p:spPr>
          <a:xfrm>
            <a:off x="2139161" y="5104101"/>
            <a:ext cx="1565472" cy="415480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100" kern="0" dirty="0">
                <a:solidFill>
                  <a:srgbClr val="FFFFFF"/>
                </a:solidFill>
                <a:latin typeface="Arial"/>
                <a:ea typeface="微软雅黑"/>
                <a:sym typeface="Arial"/>
              </a:rPr>
              <a:t>研究问题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20" name="TextBox 32"/>
          <p:cNvSpPr txBox="1"/>
          <p:nvPr/>
        </p:nvSpPr>
        <p:spPr>
          <a:xfrm>
            <a:off x="4280697" y="3713489"/>
            <a:ext cx="6912768" cy="646313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sym typeface="Arial"/>
              </a:rPr>
              <a:t>供给侧： “情感</a:t>
            </a:r>
            <a:r>
              <a:rPr lang="en-US" altLang="zh-CN" kern="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sym typeface="Arial"/>
              </a:rPr>
              <a:t>+</a:t>
            </a:r>
            <a:r>
              <a:rPr lang="zh-CN" altLang="en-US" kern="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sym typeface="Arial"/>
              </a:rPr>
              <a:t>推理”的融合尝试往往陷入“缝合怪”误区。需求侧： 玩家画像割裂（硬核推土机 </a:t>
            </a:r>
            <a:r>
              <a:rPr lang="en-US" altLang="zh-CN" kern="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sym typeface="Arial"/>
              </a:rPr>
              <a:t>vs. </a:t>
            </a:r>
            <a:r>
              <a:rPr lang="zh-CN" altLang="en-US" kern="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sym typeface="Arial"/>
              </a:rPr>
              <a:t>情感沉浸党）。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21" name="TextBox 33"/>
          <p:cNvSpPr txBox="1"/>
          <p:nvPr/>
        </p:nvSpPr>
        <p:spPr>
          <a:xfrm>
            <a:off x="4167687" y="4882895"/>
            <a:ext cx="7375826" cy="646313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lvl="0"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文本评价中的核心维度（逻辑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情感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机制）权重是如何分布的？不同维度的“语义共现（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Semantic Co-occurrence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）”揭示了怎样的设计缺陷？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22" name="TextBox 34"/>
          <p:cNvSpPr txBox="1"/>
          <p:nvPr/>
        </p:nvSpPr>
        <p:spPr>
          <a:xfrm>
            <a:off x="1328368" y="2374014"/>
            <a:ext cx="605425" cy="707868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1</a:t>
            </a:r>
          </a:p>
        </p:txBody>
      </p:sp>
      <p:sp>
        <p:nvSpPr>
          <p:cNvPr id="23" name="TextBox 35"/>
          <p:cNvSpPr txBox="1"/>
          <p:nvPr/>
        </p:nvSpPr>
        <p:spPr>
          <a:xfrm>
            <a:off x="1328368" y="3697847"/>
            <a:ext cx="605425" cy="707868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2</a:t>
            </a:r>
          </a:p>
        </p:txBody>
      </p:sp>
      <p:sp>
        <p:nvSpPr>
          <p:cNvPr id="24" name="TextBox 36"/>
          <p:cNvSpPr txBox="1"/>
          <p:nvPr/>
        </p:nvSpPr>
        <p:spPr>
          <a:xfrm>
            <a:off x="1328368" y="4953441"/>
            <a:ext cx="605425" cy="707868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29405232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00"/>
                            </p:stCondLst>
                            <p:childTnLst>
                              <p:par>
                                <p:cTn id="6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1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600"/>
                            </p:stCondLst>
                            <p:childTnLst>
                              <p:par>
                                <p:cTn id="7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2481"/>
            <a:ext cx="12190413" cy="6857107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237515" y="2870630"/>
            <a:ext cx="1486430" cy="1486426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2</a:t>
            </a:r>
            <a:endParaRPr lang="zh-CN" altLang="en-US" sz="600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23719" y="3149528"/>
            <a:ext cx="5214323" cy="890530"/>
            <a:chOff x="3382715" y="1432965"/>
            <a:chExt cx="2713464" cy="463420"/>
          </a:xfrm>
          <a:noFill/>
        </p:grpSpPr>
        <p:sp>
          <p:nvSpPr>
            <p:cNvPr id="8" name="燕尾形 7"/>
            <p:cNvSpPr/>
            <p:nvPr/>
          </p:nvSpPr>
          <p:spPr>
            <a:xfrm>
              <a:off x="3382715" y="1432965"/>
              <a:ext cx="2713464" cy="463420"/>
            </a:xfrm>
            <a:prstGeom prst="chevron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65166" y="1480917"/>
              <a:ext cx="1777807" cy="33634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数据来源和分析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93216">
            <a:off x="1087013" y="2152423"/>
            <a:ext cx="2834832" cy="158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01390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44382"/>
            <a:ext cx="12190413" cy="870862"/>
            <a:chOff x="0" y="244382"/>
            <a:chExt cx="12190413" cy="87086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17924"/>
              <a:ext cx="12190413" cy="597320"/>
              <a:chOff x="-2648979" y="271186"/>
              <a:chExt cx="12190413" cy="597320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19108" y="271186"/>
                <a:ext cx="3435255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algn="ctr"/>
                <a:r>
                  <a:rPr lang="zh-CN" altLang="en-US" sz="2900" dirty="0">
                    <a:solidFill>
                      <a:schemeClr val="bg1">
                        <a:lumMod val="50000"/>
                      </a:schemeClr>
                    </a:solidFill>
                    <a:latin typeface="Arial"/>
                    <a:ea typeface="微软雅黑"/>
                    <a:sym typeface="Arial"/>
                  </a:rPr>
                  <a:t>数据处理过程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493632" y="24438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553005" y="250332"/>
              <a:ext cx="1110280" cy="622268"/>
            </a:xfrm>
            <a:prstGeom prst="rect">
              <a:avLst/>
            </a:prstGeom>
          </p:spPr>
        </p:pic>
      </p:grpSp>
      <p:sp>
        <p:nvSpPr>
          <p:cNvPr id="10" name="椭圆 9"/>
          <p:cNvSpPr/>
          <p:nvPr/>
        </p:nvSpPr>
        <p:spPr>
          <a:xfrm>
            <a:off x="597312" y="2783066"/>
            <a:ext cx="1656184" cy="1524731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STEP 1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539995" y="2029781"/>
            <a:ext cx="1656184" cy="1656184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lvl="0" algn="ct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STEP 2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959078" y="2811290"/>
            <a:ext cx="1656184" cy="1656184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lvl="0" algn="ct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STEP 3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291143" y="2086690"/>
            <a:ext cx="1656184" cy="1608099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lvl="0" algn="ct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STEP 4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cxnSp>
        <p:nvCxnSpPr>
          <p:cNvPr id="14" name="直接连接符 13"/>
          <p:cNvCxnSpPr>
            <a:cxnSpLocks/>
            <a:stCxn id="10" idx="6"/>
            <a:endCxn id="11" idx="2"/>
          </p:cNvCxnSpPr>
          <p:nvPr/>
        </p:nvCxnSpPr>
        <p:spPr>
          <a:xfrm flipV="1">
            <a:off x="2253496" y="2857873"/>
            <a:ext cx="1286499" cy="6875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1" idx="6"/>
            <a:endCxn id="12" idx="2"/>
          </p:cNvCxnSpPr>
          <p:nvPr/>
        </p:nvCxnSpPr>
        <p:spPr>
          <a:xfrm>
            <a:off x="5196179" y="2857873"/>
            <a:ext cx="1762899" cy="7815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cxnSpLocks/>
            <a:stCxn id="12" idx="6"/>
            <a:endCxn id="13" idx="2"/>
          </p:cNvCxnSpPr>
          <p:nvPr/>
        </p:nvCxnSpPr>
        <p:spPr>
          <a:xfrm flipV="1">
            <a:off x="8615262" y="2890740"/>
            <a:ext cx="1675881" cy="74864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93109" y="4563650"/>
            <a:ext cx="1636190" cy="458441"/>
          </a:xfrm>
          <a:prstGeom prst="rect">
            <a:avLst/>
          </a:prstGeom>
        </p:spPr>
        <p:txBody>
          <a:bodyPr wrap="square" lIns="91423" tIns="45711" rIns="91423" bIns="45711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获取文本数据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3221" y="4076522"/>
            <a:ext cx="3079084" cy="395796"/>
          </a:xfrm>
          <a:prstGeom prst="rect">
            <a:avLst/>
          </a:prstGeom>
        </p:spPr>
        <p:txBody>
          <a:bodyPr wrap="square" lIns="91423" tIns="45711" rIns="91423" bIns="45711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 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857305" y="3794788"/>
            <a:ext cx="1636190" cy="458441"/>
          </a:xfrm>
          <a:prstGeom prst="rect">
            <a:avLst/>
          </a:prstGeom>
        </p:spPr>
        <p:txBody>
          <a:bodyPr wrap="square" lIns="91423" tIns="45711" rIns="91423" bIns="45711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文档解析清洗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786231" y="4467474"/>
            <a:ext cx="2001878" cy="458441"/>
          </a:xfrm>
          <a:prstGeom prst="rect">
            <a:avLst/>
          </a:prstGeom>
        </p:spPr>
        <p:txBody>
          <a:bodyPr wrap="square" lIns="91423" tIns="45711" rIns="91423" bIns="45711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自然语言预处理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291143" y="3844915"/>
            <a:ext cx="1864281" cy="458441"/>
          </a:xfrm>
          <a:prstGeom prst="rect">
            <a:avLst/>
          </a:prstGeom>
        </p:spPr>
        <p:txBody>
          <a:bodyPr wrap="square" lIns="91423" tIns="45711" rIns="91423" bIns="45711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rPr>
              <a:t>统计分析与挖掘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8589279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7" grpId="0"/>
      <p:bldP spid="18" grpId="0"/>
      <p:bldP spid="19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44382"/>
            <a:ext cx="12190413" cy="870862"/>
            <a:chOff x="0" y="244382"/>
            <a:chExt cx="12190413" cy="87086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17924"/>
              <a:ext cx="12190413" cy="597320"/>
              <a:chOff x="-2648979" y="271186"/>
              <a:chExt cx="12190413" cy="597320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19108" y="271186"/>
                <a:ext cx="3435255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algn="ctr"/>
                <a:r>
                  <a:rPr lang="zh-CN" altLang="en-US" sz="2900" dirty="0">
                    <a:solidFill>
                      <a:schemeClr val="bg1">
                        <a:lumMod val="50000"/>
                      </a:schemeClr>
                    </a:solidFill>
                    <a:latin typeface="Arial"/>
                    <a:ea typeface="微软雅黑"/>
                    <a:sym typeface="Arial"/>
                  </a:rPr>
                  <a:t>数据来源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493632" y="24438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553005" y="250332"/>
              <a:ext cx="1110280" cy="622268"/>
            </a:xfrm>
            <a:prstGeom prst="rect">
              <a:avLst/>
            </a:prstGeom>
          </p:spPr>
        </p:pic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F488AA7-ACD4-A6C5-C6AC-F67635E39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99" y="1361206"/>
            <a:ext cx="3202945" cy="20811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3B19973-B1A9-E711-5C70-7C0643AF61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198" y="3621239"/>
            <a:ext cx="3202945" cy="2270513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A92854CB-58C1-BADE-3189-5E225A278EAB}"/>
              </a:ext>
            </a:extLst>
          </p:cNvPr>
          <p:cNvSpPr txBox="1"/>
          <p:nvPr/>
        </p:nvSpPr>
        <p:spPr>
          <a:xfrm>
            <a:off x="4424373" y="4911716"/>
            <a:ext cx="6955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数据来源：从网络上搜索到的</a:t>
            </a:r>
            <a:r>
              <a:rPr lang="en-US" altLang="zh-CN" dirty="0"/>
              <a:t>300</a:t>
            </a:r>
            <a:r>
              <a:rPr lang="zh-CN" altLang="en-US" dirty="0"/>
              <a:t>份剧本，</a:t>
            </a:r>
            <a:r>
              <a:rPr lang="zh-CN" altLang="en-US" dirty="0">
                <a:sym typeface="Arial"/>
              </a:rPr>
              <a:t>依托互联网开放平台，定向采集剧本杀</a:t>
            </a:r>
            <a:r>
              <a:rPr lang="en-US" altLang="zh-CN" dirty="0">
                <a:sym typeface="Arial"/>
              </a:rPr>
              <a:t>PDF</a:t>
            </a:r>
            <a:r>
              <a:rPr lang="zh-CN" altLang="en-US" dirty="0">
                <a:sym typeface="Arial"/>
              </a:rPr>
              <a:t>格式原始剧本文本数据。数据特征： 获取非结构化、长文本、多版式的剧本核心语料。</a:t>
            </a:r>
            <a:endParaRPr lang="zh-CN" altLang="en-US" dirty="0"/>
          </a:p>
        </p:txBody>
      </p:sp>
      <p:sp>
        <p:nvSpPr>
          <p:cNvPr id="40" name="椭圆 39"/>
          <p:cNvSpPr/>
          <p:nvPr/>
        </p:nvSpPr>
        <p:spPr>
          <a:xfrm>
            <a:off x="3959852" y="4911717"/>
            <a:ext cx="408235" cy="355228"/>
          </a:xfrm>
          <a:prstGeom prst="ellipse">
            <a:avLst/>
          </a:prstGeom>
          <a:solidFill>
            <a:srgbClr val="77A3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1</a:t>
            </a:r>
            <a:endParaRPr lang="zh-CN" altLang="en-US" sz="2400" b="1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544E984-9DBE-CD88-1144-EA20DCE468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9852" y="1361206"/>
            <a:ext cx="2564677" cy="28595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115E265-D74E-1886-A223-4119AA73898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76" y="1361205"/>
            <a:ext cx="2291137" cy="28595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26E4F12-724A-EFCD-1D9E-EED77B141A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0360" y="1361203"/>
            <a:ext cx="1966177" cy="285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40078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44382"/>
            <a:ext cx="12190413" cy="870862"/>
            <a:chOff x="0" y="244382"/>
            <a:chExt cx="12190413" cy="87086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17924"/>
              <a:ext cx="12190413" cy="597320"/>
              <a:chOff x="-2648979" y="271186"/>
              <a:chExt cx="12190413" cy="597320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19108" y="271186"/>
                <a:ext cx="3435255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900" dirty="0">
                    <a:solidFill>
                      <a:srgbClr val="FFFFFF">
                        <a:lumMod val="50000"/>
                      </a:srgbClr>
                    </a:solidFill>
                    <a:latin typeface="Arial"/>
                    <a:ea typeface="微软雅黑"/>
                    <a:sym typeface="Arial"/>
                  </a:rPr>
                  <a:t>文档数据转换</a:t>
                </a:r>
                <a:endParaRPr kumimoji="0" lang="zh-CN" altLang="en-US" sz="2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Arial"/>
                </a:endParaRP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493632" y="24438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553005" y="250332"/>
              <a:ext cx="1110280" cy="622268"/>
            </a:xfrm>
            <a:prstGeom prst="rect">
              <a:avLst/>
            </a:prstGeom>
          </p:spPr>
        </p:pic>
      </p:grpSp>
      <p:sp>
        <p:nvSpPr>
          <p:cNvPr id="15" name="TextBox 10"/>
          <p:cNvSpPr txBox="1"/>
          <p:nvPr/>
        </p:nvSpPr>
        <p:spPr>
          <a:xfrm>
            <a:off x="2061138" y="5011812"/>
            <a:ext cx="8704398" cy="584757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 lvl="0"/>
            <a:r>
              <a:rPr lang="zh-CN" altLang="en-US" sz="160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利用 </a:t>
            </a:r>
            <a:r>
              <a:rPr lang="en-US" altLang="zh-CN" sz="160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doc2x </a:t>
            </a:r>
            <a:r>
              <a:rPr lang="zh-CN" altLang="en-US" sz="160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智能文档解析引擎，处理</a:t>
            </a:r>
            <a:r>
              <a:rPr lang="en-US" altLang="zh-CN" sz="160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PDF</a:t>
            </a:r>
            <a:r>
              <a:rPr lang="zh-CN" altLang="en-US" sz="160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文档的复杂排版，将非结构化文档高保真转换为可编辑的 </a:t>
            </a:r>
            <a:r>
              <a:rPr lang="en-US" altLang="zh-CN" sz="160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Txt </a:t>
            </a:r>
            <a:r>
              <a:rPr lang="zh-CN" altLang="en-US" sz="1600" dirty="0">
                <a:solidFill>
                  <a:srgbClr val="FFFFFF">
                    <a:lumMod val="50000"/>
                  </a:srgb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文本流。</a:t>
            </a:r>
          </a:p>
        </p:txBody>
      </p:sp>
      <p:sp>
        <p:nvSpPr>
          <p:cNvPr id="3" name="椭圆 2"/>
          <p:cNvSpPr/>
          <p:nvPr/>
        </p:nvSpPr>
        <p:spPr>
          <a:xfrm>
            <a:off x="1653785" y="5011812"/>
            <a:ext cx="464521" cy="46452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2</a:t>
            </a:r>
            <a:endParaRPr lang="zh-CN" altLang="en-US" sz="2400" b="1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7252FD7-32AD-005A-D733-7FBC5DCA47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319" y="1465102"/>
            <a:ext cx="5659774" cy="337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36579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44382"/>
            <a:ext cx="12190413" cy="870862"/>
            <a:chOff x="0" y="244382"/>
            <a:chExt cx="12190413" cy="87086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17924"/>
              <a:ext cx="12190413" cy="597320"/>
              <a:chOff x="-2648979" y="271186"/>
              <a:chExt cx="12190413" cy="597320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19108" y="271186"/>
                <a:ext cx="3435255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algn="ctr"/>
                <a:r>
                  <a:rPr lang="zh-CN" altLang="en-US" sz="2900" dirty="0">
                    <a:solidFill>
                      <a:schemeClr val="bg1">
                        <a:lumMod val="50000"/>
                      </a:schemeClr>
                    </a:solidFill>
                    <a:latin typeface="Arial"/>
                    <a:ea typeface="微软雅黑"/>
                    <a:sym typeface="Arial"/>
                  </a:rPr>
                  <a:t>自然语言预处理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493632" y="24438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553005" y="250332"/>
              <a:ext cx="1110280" cy="622268"/>
            </a:xfrm>
            <a:prstGeom prst="rect">
              <a:avLst/>
            </a:prstGeom>
          </p:spPr>
        </p:pic>
      </p:grpSp>
      <p:sp>
        <p:nvSpPr>
          <p:cNvPr id="15" name="TextBox 10"/>
          <p:cNvSpPr txBox="1"/>
          <p:nvPr/>
        </p:nvSpPr>
        <p:spPr>
          <a:xfrm>
            <a:off x="1530786" y="4911862"/>
            <a:ext cx="9265246" cy="584757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引入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Jieba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Open Sans" panose="020B0606030504020204" pitchFamily="34" charset="0"/>
                <a:sym typeface="Arial"/>
              </a:rPr>
              <a:t>分词库，采用精确模式对剧本进行颗粒化切分。停用词过滤： 构建自定义停用词表，剔除无意义虚词（如“的”、“了”），保留具有实质语义的名词与动词。</a:t>
            </a:r>
          </a:p>
        </p:txBody>
      </p:sp>
      <p:sp>
        <p:nvSpPr>
          <p:cNvPr id="17" name="椭圆 16"/>
          <p:cNvSpPr/>
          <p:nvPr/>
        </p:nvSpPr>
        <p:spPr>
          <a:xfrm>
            <a:off x="1095950" y="4911862"/>
            <a:ext cx="464521" cy="464521"/>
          </a:xfrm>
          <a:prstGeom prst="ellipse">
            <a:avLst/>
          </a:prstGeom>
          <a:solidFill>
            <a:srgbClr val="77A3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3</a:t>
            </a:r>
            <a:endParaRPr lang="zh-CN" altLang="en-US" sz="2400" b="1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0F8ABE-0837-DB44-C662-DE8457831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6847" y="1362969"/>
            <a:ext cx="4756717" cy="328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95083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" y="287054"/>
            <a:ext cx="12190413" cy="870862"/>
            <a:chOff x="0" y="244382"/>
            <a:chExt cx="12190413" cy="87086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17924"/>
              <a:ext cx="12190413" cy="597320"/>
              <a:chOff x="-2648979" y="271186"/>
              <a:chExt cx="12190413" cy="597320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19108" y="271186"/>
                <a:ext cx="3435255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Arial"/>
                  </a:rPr>
                  <a:t>统计分析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493632" y="24438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553005" y="250332"/>
              <a:ext cx="1110280" cy="622268"/>
            </a:xfrm>
            <a:prstGeom prst="rect">
              <a:avLst/>
            </a:prstGeom>
          </p:spPr>
        </p:pic>
      </p:grpSp>
      <p:sp>
        <p:nvSpPr>
          <p:cNvPr id="15" name="TextBox 10"/>
          <p:cNvSpPr txBox="1"/>
          <p:nvPr/>
        </p:nvSpPr>
        <p:spPr>
          <a:xfrm>
            <a:off x="1878258" y="4620521"/>
            <a:ext cx="9265246" cy="787057"/>
          </a:xfrm>
          <a:prstGeom prst="rect">
            <a:avLst/>
          </a:prstGeom>
          <a:noFill/>
        </p:spPr>
        <p:txBody>
          <a:bodyPr wrap="square" lIns="91423" tIns="45711" rIns="91423" bIns="4571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使用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Pandas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构建词频矩阵，利用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NumPy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进行多维数组运算。量化计算： 计算词频（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TF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cs typeface="华文黑体" pitchFamily="2" charset="-122"/>
                <a:sym typeface="Arial"/>
              </a:rPr>
              <a:t>）、构建共现矩阵，为后续的情感分析与逻辑关联提供数据支撑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01E2DD0-846A-3CC0-6B53-BD239B695182}"/>
              </a:ext>
            </a:extLst>
          </p:cNvPr>
          <p:cNvSpPr/>
          <p:nvPr/>
        </p:nvSpPr>
        <p:spPr>
          <a:xfrm>
            <a:off x="1413737" y="4781788"/>
            <a:ext cx="464521" cy="46452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4</a:t>
            </a:r>
            <a:endParaRPr lang="zh-CN" altLang="en-US" sz="2400" b="1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pic>
        <p:nvPicPr>
          <p:cNvPr id="19" name="图片 18" descr="文本&#10;&#10;AI 生成的内容可能不正确。">
            <a:extLst>
              <a:ext uri="{FF2B5EF4-FFF2-40B4-BE49-F238E27FC236}">
                <a16:creationId xmlns:a16="http://schemas.microsoft.com/office/drawing/2014/main" id="{1ECCAE5A-C15E-CC27-4393-11089F5E3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68" y="1452010"/>
            <a:ext cx="4200635" cy="2653572"/>
          </a:xfrm>
          <a:prstGeom prst="rect">
            <a:avLst/>
          </a:prstGeom>
        </p:spPr>
      </p:pic>
      <p:pic>
        <p:nvPicPr>
          <p:cNvPr id="21" name="图片 20" descr="文本&#10;&#10;AI 生成的内容可能不正确。">
            <a:extLst>
              <a:ext uri="{FF2B5EF4-FFF2-40B4-BE49-F238E27FC236}">
                <a16:creationId xmlns:a16="http://schemas.microsoft.com/office/drawing/2014/main" id="{BE1E6845-9DF9-D0B8-370F-B5B46461C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125" y="1521811"/>
            <a:ext cx="5212432" cy="246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5731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1"/>
            <a:ext cx="12190413" cy="6857107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237515" y="2870630"/>
            <a:ext cx="1486430" cy="1486426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3</a:t>
            </a:r>
            <a:endParaRPr lang="zh-CN" altLang="en-US" sz="600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23719" y="3149528"/>
            <a:ext cx="5214323" cy="890530"/>
            <a:chOff x="3382715" y="1432965"/>
            <a:chExt cx="2713464" cy="463420"/>
          </a:xfrm>
          <a:noFill/>
        </p:grpSpPr>
        <p:sp>
          <p:nvSpPr>
            <p:cNvPr id="8" name="燕尾形 7"/>
            <p:cNvSpPr/>
            <p:nvPr/>
          </p:nvSpPr>
          <p:spPr>
            <a:xfrm>
              <a:off x="3382715" y="1432965"/>
              <a:ext cx="2713464" cy="463420"/>
            </a:xfrm>
            <a:prstGeom prst="chevron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65166" y="1480917"/>
              <a:ext cx="2018052" cy="33634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数据可视化和结论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93216">
            <a:off x="1087013" y="2152423"/>
            <a:ext cx="2834832" cy="158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75160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" y="232079"/>
            <a:ext cx="12190413" cy="917294"/>
            <a:chOff x="0" y="197950"/>
            <a:chExt cx="12190413" cy="917294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09084"/>
              <a:ext cx="12190413" cy="606160"/>
              <a:chOff x="-2648979" y="262346"/>
              <a:chExt cx="12190413" cy="606160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79277" y="262346"/>
                <a:ext cx="3768675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algn="ctr"/>
                <a:r>
                  <a:rPr lang="zh-CN" altLang="en-US" sz="2900" dirty="0">
                    <a:solidFill>
                      <a:schemeClr val="bg1">
                        <a:lumMod val="50000"/>
                      </a:schemeClr>
                    </a:solidFill>
                    <a:latin typeface="Arial"/>
                    <a:ea typeface="微软雅黑"/>
                    <a:sym typeface="Arial"/>
                  </a:rPr>
                  <a:t>市场结构的“双核驱动” 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148675" y="250331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8173981" y="197950"/>
              <a:ext cx="1110280" cy="622268"/>
            </a:xfrm>
            <a:prstGeom prst="rect">
              <a:avLst/>
            </a:prstGeom>
          </p:spPr>
        </p:pic>
      </p:grpSp>
      <p:sp>
        <p:nvSpPr>
          <p:cNvPr id="28" name="矩形 27"/>
          <p:cNvSpPr/>
          <p:nvPr/>
        </p:nvSpPr>
        <p:spPr>
          <a:xfrm flipV="1">
            <a:off x="69194" y="4111985"/>
            <a:ext cx="12188276" cy="609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8" tIns="45698" rIns="91398" bIns="45698" rtlCol="0" anchor="ctr"/>
          <a:lstStyle/>
          <a:p>
            <a:pPr algn="ctr"/>
            <a:endParaRPr lang="zh-CN" altLang="en-US" dirty="0">
              <a:latin typeface="Arial"/>
              <a:ea typeface="微软雅黑"/>
              <a:sym typeface="Arial"/>
            </a:endParaRPr>
          </a:p>
        </p:txBody>
      </p:sp>
      <p:sp>
        <p:nvSpPr>
          <p:cNvPr id="29" name="TextBox 504"/>
          <p:cNvSpPr txBox="1"/>
          <p:nvPr/>
        </p:nvSpPr>
        <p:spPr>
          <a:xfrm>
            <a:off x="114042" y="4393807"/>
            <a:ext cx="11919462" cy="2300585"/>
          </a:xfrm>
          <a:prstGeom prst="rect">
            <a:avLst/>
          </a:prstGeom>
          <a:noFill/>
        </p:spPr>
        <p:txBody>
          <a:bodyPr wrap="square" lIns="91398" tIns="45698" rIns="91398" bIns="45698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推理与情感为绝对核心需求：推理核心维度词频占比 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28.7%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，情感核心维度占比 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22.3%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，二者合计 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51%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，占据剧本杀文本核心诉求，印证 “纯类型本主导市场” 的现实特征，玩家对剧情的核心期待集中于 “逻辑闭环” 与 “情绪共鸣”。</a:t>
            </a: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2.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互动性为关键补充需求：互动机制维度词频占比 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21.5%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，仅次于推理与情感维度，其中 “任务”（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3013 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次）、“互动”（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2899 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次）、“交流”（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2677 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次）位列高频词前 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，说明玩家对 “参与感” 的需求强烈，文本设计需围绕 “玩家行为驱动剧情” 展开。</a:t>
            </a: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3.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场景沉浸与专业设定为小众需求：场景沉浸维度词频占比仅 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6.8%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，专业设定维度占比 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5.2%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，且 “沉浸”（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799 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次）、“时间循环”（</a:t>
            </a:r>
            <a:r>
              <a:rPr lang="en-US" altLang="zh-CN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620 </a:t>
            </a:r>
            <a:r>
              <a:rPr lang="zh-CN" altLang="en-US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次）等词汇频次远低于核心词，表明高规格场景适配、专业领域深度渗透的剧情仍未成为市场主流，仅局限于细分赛道。</a:t>
            </a:r>
            <a:endParaRPr lang="en-US" altLang="zh-CN" dirty="0">
              <a:solidFill>
                <a:schemeClr val="tx1"/>
              </a:solidFill>
              <a:latin typeface="Arial"/>
              <a:ea typeface="微软雅黑"/>
              <a:sym typeface="Arial"/>
            </a:endParaRP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880B642-3FA9-B4B3-ACFA-44C22FC8CF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1955715"/>
              </p:ext>
            </p:extLst>
          </p:nvPr>
        </p:nvGraphicFramePr>
        <p:xfrm>
          <a:off x="114042" y="1278970"/>
          <a:ext cx="4216400" cy="2673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0" name="图片 29" descr="文本, 表格&#10;&#10;AI 生成的内容可能不正确。">
            <a:extLst>
              <a:ext uri="{FF2B5EF4-FFF2-40B4-BE49-F238E27FC236}">
                <a16:creationId xmlns:a16="http://schemas.microsoft.com/office/drawing/2014/main" id="{DC8CD319-4B8F-8646-0959-5E8452808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8255" y="1309258"/>
            <a:ext cx="1661304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47408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92648"/>
            <a:ext cx="12190413" cy="949841"/>
            <a:chOff x="0" y="192648"/>
            <a:chExt cx="12190413" cy="949841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249937"/>
              <a:ext cx="12190413" cy="892552"/>
              <a:chOff x="-2648979" y="3199"/>
              <a:chExt cx="12190413" cy="892552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28600" y="3199"/>
                <a:ext cx="3419206" cy="892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Arial"/>
                  </a:rPr>
                  <a:t>剧情走向的“纯粹化”趋势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2957184" y="192648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761346" y="223324"/>
              <a:ext cx="1110280" cy="622268"/>
            </a:xfrm>
            <a:prstGeom prst="rect">
              <a:avLst/>
            </a:prstGeom>
          </p:spPr>
        </p:pic>
      </p:grpSp>
      <p:sp>
        <p:nvSpPr>
          <p:cNvPr id="28" name="矩形 27"/>
          <p:cNvSpPr/>
          <p:nvPr/>
        </p:nvSpPr>
        <p:spPr>
          <a:xfrm flipV="1">
            <a:off x="114653" y="4642724"/>
            <a:ext cx="12188276" cy="609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8" tIns="45698" rIns="91398" bIns="45698" rtlCol="0" anchor="ctr"/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29" name="TextBox 504"/>
          <p:cNvSpPr txBox="1"/>
          <p:nvPr/>
        </p:nvSpPr>
        <p:spPr>
          <a:xfrm>
            <a:off x="164008" y="4770074"/>
            <a:ext cx="11357240" cy="2147275"/>
          </a:xfrm>
          <a:prstGeom prst="rect">
            <a:avLst/>
          </a:prstGeom>
          <a:noFill/>
        </p:spPr>
        <p:txBody>
          <a:bodyPr wrap="square" lIns="91398" tIns="45698" rIns="91398" bIns="45698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1.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纯类型本占据主导地位：纯硬核推理走向预测占比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37.5%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，纯情感走向占比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27.5%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，二者合计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65%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，说明市场仍以满足单一核心需求的剧本为主，玩家画像割裂（推理玩家偏好烧脑、情感玩家偏好轻推理）导致纯类型本需求稳定。</a:t>
            </a:r>
            <a:endParaRPr lang="en-US" altLang="zh-CN" sz="1100" dirty="0">
              <a:solidFill>
                <a:schemeClr val="tx1"/>
              </a:solidFill>
              <a:latin typeface="Arial"/>
              <a:ea typeface="微软雅黑"/>
              <a:sym typeface="Arial"/>
            </a:endParaRPr>
          </a:p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2.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融合尝试为小众过渡形态：融合尝试走向预测占比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17.5%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，处于 “非主流” 地位，其核心特征为 “推理词频与情感词频接近但缺乏衔接”，印证市场上融合本 “尝试性强、成熟度低” 的现状。</a:t>
            </a:r>
            <a:endParaRPr lang="en-US" altLang="zh-CN" sz="1100" dirty="0">
              <a:solidFill>
                <a:schemeClr val="tx1"/>
              </a:solidFill>
              <a:latin typeface="Arial"/>
              <a:ea typeface="微软雅黑"/>
              <a:sym typeface="Arial"/>
            </a:endParaRPr>
          </a:p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3.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机制互动走向为门店核心选择：机制互动走向预测占比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20%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，成为纯类型本之外的主要补充，适配中小门店 “翻台率优先” 的运营需求，文本设计侧重 “任务拆解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+ 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社交互动”，降低创作难度与玩家门槛。高规格沉浸走向极为稀缺：高规格沉浸走向预测占比仅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4.5%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，因需依托高成本场景与道具支撑，文本与线下硬件的适配性要求高，仅头部品牌有能力布局，未形成市场规模。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微软雅黑"/>
              <a:sym typeface="Arial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47C1E61-00F2-41A1-3B9C-2B253E4F73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0213E515-CDD9-B0C6-2D85-05AB2943D2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4E160C34-A2D2-5C9B-AF3D-BAD05E24A3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6813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F681512-8491-F7A6-9DAE-1589F88C3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624" y="1404738"/>
            <a:ext cx="5286008" cy="317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89512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56038"/>
            <a:ext cx="12190413" cy="923027"/>
            <a:chOff x="0" y="256038"/>
            <a:chExt cx="12190413" cy="923027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286513"/>
              <a:ext cx="12190413" cy="892552"/>
              <a:chOff x="-2648979" y="39775"/>
              <a:chExt cx="12190413" cy="892552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719108" y="39775"/>
                <a:ext cx="3768675" cy="892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Arial"/>
                  </a:rPr>
                  <a:t>共现矩阵揭示的“体验断层”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9898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148674" y="256038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951701" y="256038"/>
              <a:ext cx="1110280" cy="622268"/>
            </a:xfrm>
            <a:prstGeom prst="rect">
              <a:avLst/>
            </a:prstGeom>
          </p:spPr>
        </p:pic>
      </p:grpSp>
      <p:sp>
        <p:nvSpPr>
          <p:cNvPr id="28" name="矩形 27"/>
          <p:cNvSpPr/>
          <p:nvPr/>
        </p:nvSpPr>
        <p:spPr>
          <a:xfrm flipV="1">
            <a:off x="104936" y="4803834"/>
            <a:ext cx="12188276" cy="609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8" tIns="45698" rIns="91398" bIns="45698" rtlCol="0" anchor="ctr"/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29" name="TextBox 504"/>
          <p:cNvSpPr txBox="1"/>
          <p:nvPr/>
        </p:nvSpPr>
        <p:spPr>
          <a:xfrm>
            <a:off x="408432" y="5098044"/>
            <a:ext cx="11052047" cy="1231639"/>
          </a:xfrm>
          <a:prstGeom prst="rect">
            <a:avLst/>
          </a:prstGeom>
          <a:noFill/>
        </p:spPr>
        <p:txBody>
          <a:bodyPr wrap="square" lIns="91398" tIns="45698" rIns="91398" bIns="45698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推理与情感存在 “弱关联” 缺陷：推理类词汇（线索、真相、凶手）与情感类词汇（爱情、亲情、友情）的平均共现强度仅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30.5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，低于 “中等关联” 阈值（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30-59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）的中间水平，且无 “回忆触发”“线索指向” 等过渡词进入高频词，说明融合本的剧情设计多为 “元素堆砌”，未实现 “逻辑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- 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情绪” 的自然衔接。</a:t>
            </a:r>
          </a:p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推理与互动形成 “强关联” 适配：推理类词汇与互动类词汇（任务、交流、选择）的平均共现强度达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61.5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，处于 “高关联” 区间（≥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60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），如 “线索” 与 “任务” 共现强度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65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、“真相” 与 “交流” 共现强度 </a:t>
            </a:r>
            <a:r>
              <a:rPr lang="en-US" altLang="zh-CN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58</a:t>
            </a:r>
            <a:r>
              <a:rPr lang="zh-CN" altLang="en-US" sz="1100" dirty="0">
                <a:solidFill>
                  <a:schemeClr val="tx1"/>
                </a:solidFill>
                <a:latin typeface="Arial"/>
                <a:ea typeface="微软雅黑"/>
                <a:sym typeface="Arial"/>
              </a:rPr>
              <a:t>，表明推理剧情的推进高度依赖玩家互动行为。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微软雅黑"/>
              <a:sym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23CA5B-AAF6-C9C6-73D4-7644A5F390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367" y="1217218"/>
            <a:ext cx="5736993" cy="344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12210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81"/>
            <a:ext cx="12190413" cy="6857107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237515" y="2870630"/>
            <a:ext cx="1486430" cy="1486426"/>
          </a:xfrm>
          <a:prstGeom prst="ellipse">
            <a:avLst/>
          </a:prstGeom>
          <a:noFill/>
          <a:ln>
            <a:solidFill>
              <a:srgbClr val="77A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4</a:t>
            </a:r>
            <a:endParaRPr lang="zh-CN" altLang="en-US" sz="600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23719" y="3149528"/>
            <a:ext cx="5214323" cy="890530"/>
            <a:chOff x="3382715" y="1432965"/>
            <a:chExt cx="2713464" cy="463420"/>
          </a:xfrm>
          <a:noFill/>
        </p:grpSpPr>
        <p:sp>
          <p:nvSpPr>
            <p:cNvPr id="8" name="燕尾形 7"/>
            <p:cNvSpPr/>
            <p:nvPr/>
          </p:nvSpPr>
          <p:spPr>
            <a:xfrm>
              <a:off x="3382715" y="1432965"/>
              <a:ext cx="2713464" cy="463420"/>
            </a:xfrm>
            <a:prstGeom prst="chevron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65166" y="1480917"/>
              <a:ext cx="1297319" cy="33634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对策和总结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93216">
            <a:off x="1087013" y="2152423"/>
            <a:ext cx="2834832" cy="158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2186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88439"/>
            <a:ext cx="12190413" cy="900708"/>
            <a:chOff x="0" y="214536"/>
            <a:chExt cx="12190413" cy="900708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214536"/>
              <a:ext cx="12190413" cy="900708"/>
              <a:chOff x="-2648979" y="-32202"/>
              <a:chExt cx="12190413" cy="900708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399793" y="-32202"/>
                <a:ext cx="4028428" cy="892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900" dirty="0">
                    <a:solidFill>
                      <a:srgbClr val="FFFFFF">
                        <a:lumMod val="50000"/>
                      </a:srgbClr>
                    </a:solidFill>
                    <a:latin typeface="Arial"/>
                    <a:ea typeface="微软雅黑"/>
                    <a:sym typeface="Arial"/>
                  </a:rPr>
                  <a:t>从“拼盘式堆砌”转向“嵌入式融合”</a:t>
                </a:r>
                <a:endParaRPr kumimoji="0" lang="zh-CN" altLang="en-US" sz="2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Arial"/>
                </a:endParaRP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194928" y="319390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820764" y="254886"/>
              <a:ext cx="1110280" cy="622268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6582C1-8595-39B2-968C-BFE7943AEFFD}"/>
              </a:ext>
            </a:extLst>
          </p:cNvPr>
          <p:cNvGrpSpPr/>
          <p:nvPr/>
        </p:nvGrpSpPr>
        <p:grpSpPr>
          <a:xfrm>
            <a:off x="565808" y="1314229"/>
            <a:ext cx="1198200" cy="1223339"/>
            <a:chOff x="13172258" y="3096121"/>
            <a:chExt cx="2112769" cy="2112769"/>
          </a:xfrm>
          <a:noFill/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F9BE4F4-DF56-9D08-D24F-4DFEF8167D9A}"/>
                </a:ext>
              </a:extLst>
            </p:cNvPr>
            <p:cNvSpPr/>
            <p:nvPr/>
          </p:nvSpPr>
          <p:spPr>
            <a:xfrm>
              <a:off x="13172258" y="3096121"/>
              <a:ext cx="2112769" cy="2112769"/>
            </a:xfrm>
            <a:prstGeom prst="ellipse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9" name="TextBox 21">
              <a:extLst>
                <a:ext uri="{FF2B5EF4-FFF2-40B4-BE49-F238E27FC236}">
                  <a16:creationId xmlns:a16="http://schemas.microsoft.com/office/drawing/2014/main" id="{47EF1C7C-E2BF-4BF3-EBB1-C05257C05F9C}"/>
                </a:ext>
              </a:extLst>
            </p:cNvPr>
            <p:cNvSpPr txBox="1"/>
            <p:nvPr/>
          </p:nvSpPr>
          <p:spPr>
            <a:xfrm>
              <a:off x="13581323" y="3528167"/>
              <a:ext cx="1457162" cy="122255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01</a:t>
              </a:r>
              <a:endParaRPr lang="zh-CN" altLang="en-US" sz="40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9A2067DE-7E1D-AEC2-192D-1B0C2D88D80C}"/>
              </a:ext>
            </a:extLst>
          </p:cNvPr>
          <p:cNvSpPr txBox="1"/>
          <p:nvPr/>
        </p:nvSpPr>
        <p:spPr>
          <a:xfrm>
            <a:off x="2506484" y="1780032"/>
            <a:ext cx="80761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构叙事逻辑：针对推理与情感共现率低的问题。放弃“先推凶后煽情”的二段式结构。建议采用“动机即手法”的创作模式，让情感不仅是结局的点缀，更是解开谜题的唯一钥匙（例如：只有理解了角色的爱恨，才能破解密室）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强化“桥梁词”：针对缺乏过渡词汇，在剧本中增加“信物”、“记忆碎片”、“日记”等高频介质的权重。这些介质既是推理的线索，也是情感的载体，从而人为提高两类词汇的共现强度。</a:t>
            </a:r>
          </a:p>
        </p:txBody>
      </p:sp>
    </p:spTree>
    <p:extLst>
      <p:ext uri="{BB962C8B-B14F-4D97-AF65-F5344CB8AC3E}">
        <p14:creationId xmlns:p14="http://schemas.microsoft.com/office/powerpoint/2010/main" val="1789844166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78135"/>
            <a:ext cx="12190413" cy="937109"/>
            <a:chOff x="0" y="178135"/>
            <a:chExt cx="12190413" cy="937109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178135"/>
              <a:ext cx="12190413" cy="937109"/>
              <a:chOff x="-2648979" y="-68603"/>
              <a:chExt cx="12190413" cy="937109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652052" y="-68603"/>
                <a:ext cx="3435255" cy="892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Arial"/>
                  </a:rPr>
                  <a:t>基于画像分层的“差异化”服务体系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493632" y="24438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553005" y="250332"/>
              <a:ext cx="1110280" cy="622268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2D3C345-3069-45C4-B5B6-A754FD732850}"/>
              </a:ext>
            </a:extLst>
          </p:cNvPr>
          <p:cNvGrpSpPr/>
          <p:nvPr/>
        </p:nvGrpSpPr>
        <p:grpSpPr>
          <a:xfrm>
            <a:off x="634944" y="1598782"/>
            <a:ext cx="1198200" cy="1223337"/>
            <a:chOff x="14111087" y="6588075"/>
            <a:chExt cx="2112769" cy="2112769"/>
          </a:xfrm>
          <a:noFill/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7BCA76D0-BCF1-E106-7A2A-8A5F279FC329}"/>
                </a:ext>
              </a:extLst>
            </p:cNvPr>
            <p:cNvSpPr/>
            <p:nvPr/>
          </p:nvSpPr>
          <p:spPr>
            <a:xfrm>
              <a:off x="14111087" y="6588075"/>
              <a:ext cx="2112769" cy="2112769"/>
            </a:xfrm>
            <a:prstGeom prst="ellips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9" name="TextBox 27">
              <a:extLst>
                <a:ext uri="{FF2B5EF4-FFF2-40B4-BE49-F238E27FC236}">
                  <a16:creationId xmlns:a16="http://schemas.microsoft.com/office/drawing/2014/main" id="{AE8772F9-7CCC-1CB0-E557-E6E53C4A1E91}"/>
                </a:ext>
              </a:extLst>
            </p:cNvPr>
            <p:cNvSpPr txBox="1"/>
            <p:nvPr/>
          </p:nvSpPr>
          <p:spPr>
            <a:xfrm>
              <a:off x="14466879" y="7033178"/>
              <a:ext cx="1636297" cy="122255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02</a:t>
              </a:r>
              <a:endParaRPr lang="zh-CN" altLang="en-US" sz="40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7422A5B-371E-B2D4-4251-516F292751AA}"/>
              </a:ext>
            </a:extLst>
          </p:cNvPr>
          <p:cNvSpPr txBox="1"/>
          <p:nvPr/>
        </p:nvSpPr>
        <p:spPr>
          <a:xfrm>
            <a:off x="2487168" y="2005584"/>
            <a:ext cx="8253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精细化分层运营：硬核与情感玩家需求完全割裂（</a:t>
            </a:r>
            <a:r>
              <a:rPr lang="en-US" altLang="zh-CN" dirty="0"/>
              <a:t>65%</a:t>
            </a:r>
            <a:r>
              <a:rPr lang="zh-CN" altLang="en-US" dirty="0"/>
              <a:t>纯类型占比）。门店应建立严格的“拼车分级制度”。严禁将硬核推土机玩家与情感沉浸玩家拼在同一车，避免因需求错位导致的口碑崩盘。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攻“机制互动”赛道：互动机制类词汇（任务、交流）的高频出现及强关联性。决策：对于新客和团建市场，优先引入“弱剧情、强机制”的剧本。利用数据验证的“高互动”属性来打破社交冰山，提高门店翻台率和复购率。</a:t>
            </a:r>
          </a:p>
        </p:txBody>
      </p:sp>
    </p:spTree>
    <p:extLst>
      <p:ext uri="{BB962C8B-B14F-4D97-AF65-F5344CB8AC3E}">
        <p14:creationId xmlns:p14="http://schemas.microsoft.com/office/powerpoint/2010/main" val="727170020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250332"/>
            <a:ext cx="12190413" cy="864912"/>
            <a:chOff x="0" y="250332"/>
            <a:chExt cx="12190413" cy="86491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299366"/>
              <a:ext cx="12190413" cy="815878"/>
              <a:chOff x="-2648979" y="52628"/>
              <a:chExt cx="12190413" cy="815878"/>
            </a:xfrm>
          </p:grpSpPr>
          <p:sp>
            <p:nvSpPr>
              <p:cNvPr id="6" name="9"/>
              <p:cNvSpPr txBox="1"/>
              <p:nvPr/>
            </p:nvSpPr>
            <p:spPr>
              <a:xfrm>
                <a:off x="1610075" y="52628"/>
                <a:ext cx="343525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1" indent="0" algn="ctr" defTabSz="91434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Arial"/>
                  </a:rPr>
                  <a:t>总结与展望：数据驱动下的“理性繁荣”</a:t>
                </a:r>
              </a:p>
            </p:txBody>
          </p:sp>
          <p:cxnSp>
            <p:nvCxnSpPr>
              <p:cNvPr id="7" name="品 11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-2648979" y="868506"/>
                <a:ext cx="1219041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77A3C1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53377">
              <a:off x="3314337" y="250332"/>
              <a:ext cx="1110280" cy="62226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646623" flipH="1">
              <a:off x="7851708" y="250332"/>
              <a:ext cx="1110280" cy="622268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05AADE-8689-9714-B94F-FA1CBBEE3E7C}"/>
              </a:ext>
            </a:extLst>
          </p:cNvPr>
          <p:cNvGrpSpPr/>
          <p:nvPr/>
        </p:nvGrpSpPr>
        <p:grpSpPr>
          <a:xfrm>
            <a:off x="182944" y="1331484"/>
            <a:ext cx="1336131" cy="1223336"/>
            <a:chOff x="13172258" y="9631589"/>
            <a:chExt cx="2355981" cy="2112769"/>
          </a:xfrm>
          <a:noFill/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7D225EE4-1A39-56C9-7515-4477F69EB418}"/>
                </a:ext>
              </a:extLst>
            </p:cNvPr>
            <p:cNvSpPr/>
            <p:nvPr/>
          </p:nvSpPr>
          <p:spPr>
            <a:xfrm>
              <a:off x="13172258" y="9631589"/>
              <a:ext cx="2112769" cy="2112769"/>
            </a:xfrm>
            <a:prstGeom prst="ellipse">
              <a:avLst/>
            </a:prstGeom>
            <a:grpFill/>
            <a:ln>
              <a:solidFill>
                <a:srgbClr val="77A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4CC96C80-4A6F-4586-4EC3-F98B6ADEBE8D}"/>
                </a:ext>
              </a:extLst>
            </p:cNvPr>
            <p:cNvSpPr txBox="1"/>
            <p:nvPr/>
          </p:nvSpPr>
          <p:spPr>
            <a:xfrm>
              <a:off x="13539159" y="10087373"/>
              <a:ext cx="1989080" cy="1222558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rPr>
                <a:t>03</a:t>
              </a:r>
              <a:endParaRPr lang="zh-CN" altLang="en-US" sz="4000" dirty="0">
                <a:solidFill>
                  <a:schemeClr val="bg1">
                    <a:lumMod val="50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060F2FE7-803E-1A2D-1A53-145689BAD38D}"/>
              </a:ext>
            </a:extLst>
          </p:cNvPr>
          <p:cNvSpPr txBox="1"/>
          <p:nvPr/>
        </p:nvSpPr>
        <p:spPr>
          <a:xfrm>
            <a:off x="1999488" y="2118612"/>
            <a:ext cx="9540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Top20</a:t>
            </a:r>
            <a:r>
              <a:rPr lang="zh-CN" altLang="en-US" dirty="0"/>
              <a:t>高频词中，“元宇宙”、“高规格沉浸”、“专业设定”等营销概念词汇并未出现，属于极低频的长尾分布。文本挖掘客观地刺破了行业的“概念泡沫”。数据无情地揭示了现状：尽管市场上充斥着各种高大上的标签，但内容供给的本质仍然停留在基础的逻辑与情感层面，“内容贫瘠”与“概念过载”是当前的主要矛盾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价值回归：坚守“强交互”护城河无论题材如何迭代，数据表明 “人与人的实时博弈”（推理</a:t>
            </a:r>
            <a:r>
              <a:rPr lang="en-US" altLang="zh-CN" dirty="0"/>
              <a:t>-</a:t>
            </a:r>
            <a:r>
              <a:rPr lang="zh-CN" altLang="en-US" dirty="0"/>
              <a:t>互动关联度 </a:t>
            </a:r>
            <a:r>
              <a:rPr lang="en-US" altLang="zh-CN" dirty="0"/>
              <a:t>&gt;60</a:t>
            </a:r>
            <a:r>
              <a:rPr lang="zh-CN" altLang="en-US" dirty="0"/>
              <a:t>）始终是剧本杀区别于影视、小说等其他娱乐形式的绝对护城河。未来的爆款产品，必将是那些能最大化挖掘这一交互数据的作品。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未来趋势：</a:t>
            </a:r>
            <a:r>
              <a:rPr lang="en-US" altLang="zh-CN" dirty="0"/>
              <a:t>AI </a:t>
            </a:r>
            <a:r>
              <a:rPr lang="zh-CN" altLang="en-US" dirty="0"/>
              <a:t>辅助下的“补短板”工程针对共现矩阵中暴露出的“专业设定”与“剧情融合”短板，未来的机会在于 </a:t>
            </a:r>
            <a:r>
              <a:rPr lang="en-US" altLang="zh-CN" dirty="0"/>
              <a:t>AIGC</a:t>
            </a:r>
            <a:r>
              <a:rPr lang="zh-CN" altLang="en-US" dirty="0"/>
              <a:t>（生成式</a:t>
            </a:r>
            <a:r>
              <a:rPr lang="en-US" altLang="zh-CN" dirty="0"/>
              <a:t>AI</a:t>
            </a:r>
            <a:r>
              <a:rPr lang="zh-CN" altLang="en-US" dirty="0"/>
              <a:t>） 的深度应用。利用</a:t>
            </a:r>
            <a:r>
              <a:rPr lang="en-US" altLang="zh-CN" dirty="0"/>
              <a:t>AI</a:t>
            </a:r>
            <a:r>
              <a:rPr lang="zh-CN" altLang="en-US" dirty="0"/>
              <a:t>构建庞大且严谨的世界观逻辑，弥补人类作者在知识广度上的不足，实现从“作坊式写作”向“工业化生产”的跨越。</a:t>
            </a:r>
          </a:p>
        </p:txBody>
      </p:sp>
    </p:spTree>
    <p:extLst>
      <p:ext uri="{BB962C8B-B14F-4D97-AF65-F5344CB8AC3E}">
        <p14:creationId xmlns:p14="http://schemas.microsoft.com/office/powerpoint/2010/main" val="3269480395"/>
      </p:ext>
    </p:ext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1"/>
            <a:ext cx="12190413" cy="6857107"/>
          </a:xfrm>
          <a:prstGeom prst="rect">
            <a:avLst/>
          </a:prstGeom>
        </p:spPr>
      </p:pic>
      <p:sp>
        <p:nvSpPr>
          <p:cNvPr id="26" name="_14"/>
          <p:cNvSpPr txBox="1">
            <a:spLocks noChangeArrowheads="1"/>
          </p:cNvSpPr>
          <p:nvPr/>
        </p:nvSpPr>
        <p:spPr bwMode="auto">
          <a:xfrm>
            <a:off x="5524020" y="2700368"/>
            <a:ext cx="7070326" cy="1242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1" rIns="91423" bIns="45711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zh-CN" altLang="en-US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谢谢</a:t>
            </a:r>
            <a: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Arial"/>
                <a:ea typeface="微软雅黑"/>
                <a:sym typeface="Arial"/>
              </a:rPr>
              <a:t>您的观看</a:t>
            </a:r>
            <a:r>
              <a:rPr lang="zh-CN" altLang="en-US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指导</a:t>
            </a:r>
            <a:r>
              <a:rPr lang="en-US" altLang="zh-CN" sz="6000" dirty="0">
                <a:solidFill>
                  <a:srgbClr val="77A3C1"/>
                </a:solidFill>
                <a:latin typeface="Arial"/>
                <a:ea typeface="微软雅黑"/>
                <a:sym typeface="Arial"/>
              </a:rPr>
              <a:t>!</a:t>
            </a:r>
            <a:endParaRPr lang="zh-CN" altLang="en-US" sz="600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27" name="_15"/>
          <p:cNvSpPr txBox="1">
            <a:spLocks noChangeArrowheads="1"/>
          </p:cNvSpPr>
          <p:nvPr/>
        </p:nvSpPr>
        <p:spPr bwMode="auto">
          <a:xfrm>
            <a:off x="5595284" y="3865427"/>
            <a:ext cx="4920318" cy="487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1" rIns="91423" bIns="45711" numCol="1" anchor="ctr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algn="l"/>
            <a:endParaRPr lang="zh-CN" altLang="en-US" sz="1200" b="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091040">
            <a:off x="-122308" y="1745321"/>
            <a:ext cx="6428806" cy="3603094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78" y="1211916"/>
            <a:ext cx="3464834" cy="1371981"/>
          </a:xfrm>
          <a:prstGeom prst="rect">
            <a:avLst/>
          </a:prstGeom>
        </p:spPr>
      </p:pic>
      <p:sp>
        <p:nvSpPr>
          <p:cNvPr id="33" name="_16"/>
          <p:cNvSpPr txBox="1">
            <a:spLocks noChangeArrowheads="1"/>
          </p:cNvSpPr>
          <p:nvPr/>
        </p:nvSpPr>
        <p:spPr bwMode="auto">
          <a:xfrm>
            <a:off x="5524021" y="1397408"/>
            <a:ext cx="3137380" cy="165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1" rIns="91423" bIns="45711" numCol="1" anchor="ctr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algn="l"/>
            <a:endParaRPr lang="zh-CN" altLang="zh-CN" sz="8600" b="0" dirty="0">
              <a:solidFill>
                <a:srgbClr val="77A3C1"/>
              </a:solidFill>
              <a:latin typeface="Arial"/>
              <a:ea typeface="微软雅黑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2404250"/>
      </p:ext>
    </p:extLst>
  </p:cSld>
  <p:clrMapOvr>
    <a:masterClrMapping/>
  </p:clrMapOvr>
  <p:transition spd="slow" advClick="0" advTm="100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6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nodePh="1">
                                  <p:stCondLst>
                                    <p:cond delay="225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TRACKING_SLIDES" val="1"/>
  <p:tag name="GENSWF_OUTPUT_FILE_NAME" val="33"/>
  <p:tag name="ISPRING_PRESENTATION_TITLE" val="商务pp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炫彩扁平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BF53"/>
      </a:accent1>
      <a:accent2>
        <a:srgbClr val="F17475"/>
      </a:accent2>
      <a:accent3>
        <a:srgbClr val="01B3C5"/>
      </a:accent3>
      <a:accent4>
        <a:srgbClr val="77448C"/>
      </a:accent4>
      <a:accent5>
        <a:srgbClr val="00AF92"/>
      </a:accent5>
      <a:accent6>
        <a:srgbClr val="C65885"/>
      </a:accent6>
      <a:hlink>
        <a:srgbClr val="FCC79F"/>
      </a:hlink>
      <a:folHlink>
        <a:srgbClr val="869F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景色-草原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667511"/>
    </a:accent1>
    <a:accent2>
      <a:srgbClr val="AFB611"/>
    </a:accent2>
    <a:accent3>
      <a:srgbClr val="E2DE2B"/>
    </a:accent3>
    <a:accent4>
      <a:srgbClr val="B7C86B"/>
    </a:accent4>
    <a:accent5>
      <a:srgbClr val="F5DCC0"/>
    </a:accent5>
    <a:accent6>
      <a:srgbClr val="FFFFFF"/>
    </a:accent6>
    <a:hlink>
      <a:srgbClr val="0563C1"/>
    </a:hlink>
    <a:folHlink>
      <a:srgbClr val="954F72"/>
    </a:folHlink>
  </a:clrScheme>
  <a:fontScheme name="自定义 2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4292</TotalTime>
  <Words>1512</Words>
  <Application>Microsoft Office PowerPoint</Application>
  <PresentationFormat>自定义</PresentationFormat>
  <Paragraphs>107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微软雅黑</vt:lpstr>
      <vt:lpstr>印品黑体</vt:lpstr>
      <vt:lpstr>Arial</vt:lpstr>
      <vt:lpstr>第一PPT，www.1ppt.com</vt:lpstr>
      <vt:lpstr>第一PPT，www.1ppt.com 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第一PPT，www.1ppt.com</dc:creator>
  <cp:keywords>www.1ppt.com</cp:keywords>
  <dc:description>第一PPT</dc:description>
  <cp:lastModifiedBy>竹 青</cp:lastModifiedBy>
  <cp:revision>2408</cp:revision>
  <dcterms:created xsi:type="dcterms:W3CDTF">2015-12-01T09:06:39Z</dcterms:created>
  <dcterms:modified xsi:type="dcterms:W3CDTF">2025-12-15T23:51:04Z</dcterms:modified>
</cp:coreProperties>
</file>